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4.png" ContentType="image/png"/>
  <Override PartName="/ppt/media/image3.png" ContentType="image/png"/>
  <Override PartName="/ppt/media/image1.png" ContentType="image/png"/>
  <Override PartName="/ppt/media/image2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3199320" cy="6856920"/>
          </a:xfrm>
          <a:custGeom>
            <a:avLst/>
            <a:gdLst/>
            <a:ahLst/>
            <a:rect l="l" t="t" r="r" b="b"/>
            <a:pathLst>
              <a:path w="3200400" h="6858000">
                <a:moveTo>
                  <a:pt x="3200400" y="0"/>
                </a:moveTo>
                <a:lnTo>
                  <a:pt x="762000" y="0"/>
                </a:lnTo>
                <a:lnTo>
                  <a:pt x="685800" y="0"/>
                </a:lnTo>
                <a:lnTo>
                  <a:pt x="0" y="0"/>
                </a:lnTo>
                <a:lnTo>
                  <a:pt x="0" y="6858000"/>
                </a:lnTo>
                <a:lnTo>
                  <a:pt x="762000" y="6858000"/>
                </a:lnTo>
                <a:lnTo>
                  <a:pt x="762000" y="1066800"/>
                </a:lnTo>
                <a:lnTo>
                  <a:pt x="3200400" y="1066800"/>
                </a:lnTo>
                <a:lnTo>
                  <a:pt x="3200400" y="0"/>
                </a:lnTo>
                <a:close/>
              </a:path>
            </a:pathLst>
          </a:custGeom>
          <a:solidFill>
            <a:srgbClr val="99cc9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762120" y="762120"/>
            <a:ext cx="5104440" cy="608400"/>
          </a:xfrm>
          <a:custGeom>
            <a:avLst/>
            <a:gdLst/>
            <a:ahLst/>
            <a:rect l="l" t="t" r="r" b="b"/>
            <a:pathLst>
              <a:path w="5105400" h="609600">
                <a:moveTo>
                  <a:pt x="4800600" y="0"/>
                </a:moveTo>
                <a:lnTo>
                  <a:pt x="304800" y="0"/>
                </a:lnTo>
                <a:lnTo>
                  <a:pt x="259232" y="4419"/>
                </a:lnTo>
                <a:lnTo>
                  <a:pt x="214579" y="17068"/>
                </a:lnTo>
                <a:lnTo>
                  <a:pt x="171754" y="37033"/>
                </a:lnTo>
                <a:lnTo>
                  <a:pt x="131673" y="63398"/>
                </a:lnTo>
                <a:lnTo>
                  <a:pt x="95250" y="95250"/>
                </a:lnTo>
                <a:lnTo>
                  <a:pt x="63398" y="131673"/>
                </a:lnTo>
                <a:lnTo>
                  <a:pt x="37033" y="171754"/>
                </a:lnTo>
                <a:lnTo>
                  <a:pt x="17068" y="214579"/>
                </a:lnTo>
                <a:lnTo>
                  <a:pt x="4419" y="259232"/>
                </a:lnTo>
                <a:lnTo>
                  <a:pt x="0" y="304800"/>
                </a:lnTo>
                <a:lnTo>
                  <a:pt x="4419" y="350367"/>
                </a:lnTo>
                <a:lnTo>
                  <a:pt x="17068" y="395020"/>
                </a:lnTo>
                <a:lnTo>
                  <a:pt x="37033" y="437845"/>
                </a:lnTo>
                <a:lnTo>
                  <a:pt x="63398" y="477926"/>
                </a:lnTo>
                <a:lnTo>
                  <a:pt x="95250" y="514350"/>
                </a:lnTo>
                <a:lnTo>
                  <a:pt x="131673" y="546201"/>
                </a:lnTo>
                <a:lnTo>
                  <a:pt x="171754" y="572566"/>
                </a:lnTo>
                <a:lnTo>
                  <a:pt x="214579" y="592531"/>
                </a:lnTo>
                <a:lnTo>
                  <a:pt x="259232" y="605180"/>
                </a:lnTo>
                <a:lnTo>
                  <a:pt x="304800" y="609600"/>
                </a:lnTo>
                <a:lnTo>
                  <a:pt x="4800600" y="609600"/>
                </a:lnTo>
                <a:lnTo>
                  <a:pt x="4846167" y="605180"/>
                </a:lnTo>
                <a:lnTo>
                  <a:pt x="4890820" y="592531"/>
                </a:lnTo>
                <a:lnTo>
                  <a:pt x="4933645" y="572566"/>
                </a:lnTo>
                <a:lnTo>
                  <a:pt x="4973726" y="546201"/>
                </a:lnTo>
                <a:lnTo>
                  <a:pt x="5010150" y="514350"/>
                </a:lnTo>
                <a:lnTo>
                  <a:pt x="5042001" y="477926"/>
                </a:lnTo>
                <a:lnTo>
                  <a:pt x="5068366" y="437845"/>
                </a:lnTo>
                <a:lnTo>
                  <a:pt x="5088331" y="395020"/>
                </a:lnTo>
                <a:lnTo>
                  <a:pt x="5100980" y="350367"/>
                </a:lnTo>
                <a:lnTo>
                  <a:pt x="5105400" y="304800"/>
                </a:lnTo>
                <a:lnTo>
                  <a:pt x="5100980" y="259232"/>
                </a:lnTo>
                <a:lnTo>
                  <a:pt x="5088331" y="214579"/>
                </a:lnTo>
                <a:lnTo>
                  <a:pt x="5068366" y="171754"/>
                </a:lnTo>
                <a:lnTo>
                  <a:pt x="5042001" y="131673"/>
                </a:lnTo>
                <a:lnTo>
                  <a:pt x="5010150" y="95250"/>
                </a:lnTo>
                <a:lnTo>
                  <a:pt x="4973726" y="63398"/>
                </a:lnTo>
                <a:lnTo>
                  <a:pt x="4933645" y="37033"/>
                </a:lnTo>
                <a:lnTo>
                  <a:pt x="4890820" y="17068"/>
                </a:lnTo>
                <a:lnTo>
                  <a:pt x="4846167" y="4419"/>
                </a:lnTo>
                <a:lnTo>
                  <a:pt x="48006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CustomShape 3"/>
          <p:cNvSpPr/>
          <p:nvPr/>
        </p:nvSpPr>
        <p:spPr>
          <a:xfrm>
            <a:off x="228600" y="1981080"/>
            <a:ext cx="7390440" cy="317520"/>
          </a:xfrm>
          <a:custGeom>
            <a:avLst/>
            <a:gdLst/>
            <a:ahLst/>
            <a:rect l="l" t="t" r="r" b="b"/>
            <a:pathLst>
              <a:path w="7391400" h="318769">
                <a:moveTo>
                  <a:pt x="7391400" y="0"/>
                </a:moveTo>
                <a:lnTo>
                  <a:pt x="393700" y="0"/>
                </a:lnTo>
                <a:lnTo>
                  <a:pt x="381000" y="0"/>
                </a:lnTo>
                <a:lnTo>
                  <a:pt x="196850" y="0"/>
                </a:lnTo>
                <a:lnTo>
                  <a:pt x="147866" y="6299"/>
                </a:lnTo>
                <a:lnTo>
                  <a:pt x="101777" y="23660"/>
                </a:lnTo>
                <a:lnTo>
                  <a:pt x="61277" y="49847"/>
                </a:lnTo>
                <a:lnTo>
                  <a:pt x="29019" y="82600"/>
                </a:lnTo>
                <a:lnTo>
                  <a:pt x="7696" y="119659"/>
                </a:lnTo>
                <a:lnTo>
                  <a:pt x="0" y="158750"/>
                </a:lnTo>
                <a:lnTo>
                  <a:pt x="7696" y="198386"/>
                </a:lnTo>
                <a:lnTo>
                  <a:pt x="29019" y="235800"/>
                </a:lnTo>
                <a:lnTo>
                  <a:pt x="61277" y="268770"/>
                </a:lnTo>
                <a:lnTo>
                  <a:pt x="101777" y="295071"/>
                </a:lnTo>
                <a:lnTo>
                  <a:pt x="147866" y="312483"/>
                </a:lnTo>
                <a:lnTo>
                  <a:pt x="196850" y="318770"/>
                </a:lnTo>
                <a:lnTo>
                  <a:pt x="393700" y="318770"/>
                </a:lnTo>
                <a:lnTo>
                  <a:pt x="393700" y="317500"/>
                </a:lnTo>
                <a:lnTo>
                  <a:pt x="7391400" y="317500"/>
                </a:lnTo>
                <a:lnTo>
                  <a:pt x="7391400" y="0"/>
                </a:lnTo>
                <a:close/>
              </a:path>
            </a:pathLst>
          </a:custGeom>
          <a:solidFill>
            <a:srgbClr val="00336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3199320" cy="6856920"/>
          </a:xfrm>
          <a:custGeom>
            <a:avLst/>
            <a:gdLst/>
            <a:ahLst/>
            <a:rect l="l" t="t" r="r" b="b"/>
            <a:pathLst>
              <a:path w="3200400" h="6858000">
                <a:moveTo>
                  <a:pt x="3200400" y="0"/>
                </a:moveTo>
                <a:lnTo>
                  <a:pt x="762000" y="0"/>
                </a:lnTo>
                <a:lnTo>
                  <a:pt x="685800" y="0"/>
                </a:lnTo>
                <a:lnTo>
                  <a:pt x="0" y="0"/>
                </a:lnTo>
                <a:lnTo>
                  <a:pt x="0" y="6858000"/>
                </a:lnTo>
                <a:lnTo>
                  <a:pt x="762000" y="6858000"/>
                </a:lnTo>
                <a:lnTo>
                  <a:pt x="762000" y="1066800"/>
                </a:lnTo>
                <a:lnTo>
                  <a:pt x="3200400" y="1066800"/>
                </a:lnTo>
                <a:lnTo>
                  <a:pt x="3200400" y="0"/>
                </a:lnTo>
                <a:close/>
              </a:path>
            </a:pathLst>
          </a:custGeom>
          <a:solidFill>
            <a:srgbClr val="99cc9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2"/>
          <p:cNvSpPr/>
          <p:nvPr/>
        </p:nvSpPr>
        <p:spPr>
          <a:xfrm>
            <a:off x="762120" y="762120"/>
            <a:ext cx="5104440" cy="608400"/>
          </a:xfrm>
          <a:custGeom>
            <a:avLst/>
            <a:gdLst/>
            <a:ahLst/>
            <a:rect l="l" t="t" r="r" b="b"/>
            <a:pathLst>
              <a:path w="5105400" h="609600">
                <a:moveTo>
                  <a:pt x="4800600" y="0"/>
                </a:moveTo>
                <a:lnTo>
                  <a:pt x="304800" y="0"/>
                </a:lnTo>
                <a:lnTo>
                  <a:pt x="259232" y="4419"/>
                </a:lnTo>
                <a:lnTo>
                  <a:pt x="214579" y="17068"/>
                </a:lnTo>
                <a:lnTo>
                  <a:pt x="171754" y="37033"/>
                </a:lnTo>
                <a:lnTo>
                  <a:pt x="131673" y="63398"/>
                </a:lnTo>
                <a:lnTo>
                  <a:pt x="95250" y="95250"/>
                </a:lnTo>
                <a:lnTo>
                  <a:pt x="63398" y="131673"/>
                </a:lnTo>
                <a:lnTo>
                  <a:pt x="37033" y="171754"/>
                </a:lnTo>
                <a:lnTo>
                  <a:pt x="17068" y="214579"/>
                </a:lnTo>
                <a:lnTo>
                  <a:pt x="4419" y="259232"/>
                </a:lnTo>
                <a:lnTo>
                  <a:pt x="0" y="304800"/>
                </a:lnTo>
                <a:lnTo>
                  <a:pt x="4419" y="350367"/>
                </a:lnTo>
                <a:lnTo>
                  <a:pt x="17068" y="395020"/>
                </a:lnTo>
                <a:lnTo>
                  <a:pt x="37033" y="437845"/>
                </a:lnTo>
                <a:lnTo>
                  <a:pt x="63398" y="477926"/>
                </a:lnTo>
                <a:lnTo>
                  <a:pt x="95250" y="514350"/>
                </a:lnTo>
                <a:lnTo>
                  <a:pt x="131673" y="546201"/>
                </a:lnTo>
                <a:lnTo>
                  <a:pt x="171754" y="572566"/>
                </a:lnTo>
                <a:lnTo>
                  <a:pt x="214579" y="592531"/>
                </a:lnTo>
                <a:lnTo>
                  <a:pt x="259232" y="605180"/>
                </a:lnTo>
                <a:lnTo>
                  <a:pt x="304800" y="609600"/>
                </a:lnTo>
                <a:lnTo>
                  <a:pt x="4800600" y="609600"/>
                </a:lnTo>
                <a:lnTo>
                  <a:pt x="4846167" y="605180"/>
                </a:lnTo>
                <a:lnTo>
                  <a:pt x="4890820" y="592531"/>
                </a:lnTo>
                <a:lnTo>
                  <a:pt x="4933645" y="572566"/>
                </a:lnTo>
                <a:lnTo>
                  <a:pt x="4973726" y="546201"/>
                </a:lnTo>
                <a:lnTo>
                  <a:pt x="5010150" y="514350"/>
                </a:lnTo>
                <a:lnTo>
                  <a:pt x="5042001" y="477926"/>
                </a:lnTo>
                <a:lnTo>
                  <a:pt x="5068366" y="437845"/>
                </a:lnTo>
                <a:lnTo>
                  <a:pt x="5088331" y="395020"/>
                </a:lnTo>
                <a:lnTo>
                  <a:pt x="5100980" y="350367"/>
                </a:lnTo>
                <a:lnTo>
                  <a:pt x="5105400" y="304800"/>
                </a:lnTo>
                <a:lnTo>
                  <a:pt x="5100980" y="259232"/>
                </a:lnTo>
                <a:lnTo>
                  <a:pt x="5088331" y="214579"/>
                </a:lnTo>
                <a:lnTo>
                  <a:pt x="5068366" y="171754"/>
                </a:lnTo>
                <a:lnTo>
                  <a:pt x="5042001" y="131673"/>
                </a:lnTo>
                <a:lnTo>
                  <a:pt x="5010150" y="95250"/>
                </a:lnTo>
                <a:lnTo>
                  <a:pt x="4973726" y="63398"/>
                </a:lnTo>
                <a:lnTo>
                  <a:pt x="4933645" y="37033"/>
                </a:lnTo>
                <a:lnTo>
                  <a:pt x="4890820" y="17068"/>
                </a:lnTo>
                <a:lnTo>
                  <a:pt x="4846167" y="4419"/>
                </a:lnTo>
                <a:lnTo>
                  <a:pt x="48006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CustomShape 3"/>
          <p:cNvSpPr/>
          <p:nvPr/>
        </p:nvSpPr>
        <p:spPr>
          <a:xfrm>
            <a:off x="228600" y="1981080"/>
            <a:ext cx="7390440" cy="317520"/>
          </a:xfrm>
          <a:custGeom>
            <a:avLst/>
            <a:gdLst/>
            <a:ahLst/>
            <a:rect l="l" t="t" r="r" b="b"/>
            <a:pathLst>
              <a:path w="7391400" h="318769">
                <a:moveTo>
                  <a:pt x="7391400" y="0"/>
                </a:moveTo>
                <a:lnTo>
                  <a:pt x="393700" y="0"/>
                </a:lnTo>
                <a:lnTo>
                  <a:pt x="381000" y="0"/>
                </a:lnTo>
                <a:lnTo>
                  <a:pt x="196850" y="0"/>
                </a:lnTo>
                <a:lnTo>
                  <a:pt x="147866" y="6299"/>
                </a:lnTo>
                <a:lnTo>
                  <a:pt x="101777" y="23660"/>
                </a:lnTo>
                <a:lnTo>
                  <a:pt x="61277" y="49847"/>
                </a:lnTo>
                <a:lnTo>
                  <a:pt x="29019" y="82600"/>
                </a:lnTo>
                <a:lnTo>
                  <a:pt x="7696" y="119659"/>
                </a:lnTo>
                <a:lnTo>
                  <a:pt x="0" y="158750"/>
                </a:lnTo>
                <a:lnTo>
                  <a:pt x="7696" y="198386"/>
                </a:lnTo>
                <a:lnTo>
                  <a:pt x="29019" y="235800"/>
                </a:lnTo>
                <a:lnTo>
                  <a:pt x="61277" y="268770"/>
                </a:lnTo>
                <a:lnTo>
                  <a:pt x="101777" y="295071"/>
                </a:lnTo>
                <a:lnTo>
                  <a:pt x="147866" y="312483"/>
                </a:lnTo>
                <a:lnTo>
                  <a:pt x="196850" y="318770"/>
                </a:lnTo>
                <a:lnTo>
                  <a:pt x="393700" y="318770"/>
                </a:lnTo>
                <a:lnTo>
                  <a:pt x="393700" y="317500"/>
                </a:lnTo>
                <a:lnTo>
                  <a:pt x="7391400" y="317500"/>
                </a:lnTo>
                <a:lnTo>
                  <a:pt x="7391400" y="0"/>
                </a:lnTo>
                <a:close/>
              </a:path>
            </a:pathLst>
          </a:custGeom>
          <a:solidFill>
            <a:srgbClr val="00336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1"/>
          <p:cNvGrpSpPr/>
          <p:nvPr/>
        </p:nvGrpSpPr>
        <p:grpSpPr>
          <a:xfrm>
            <a:off x="0" y="0"/>
            <a:ext cx="8507880" cy="6856920"/>
            <a:chOff x="0" y="0"/>
            <a:chExt cx="8507880" cy="6856920"/>
          </a:xfrm>
        </p:grpSpPr>
        <p:sp>
          <p:nvSpPr>
            <p:cNvPr id="83" name="CustomShape 2"/>
            <p:cNvSpPr/>
            <p:nvPr/>
          </p:nvSpPr>
          <p:spPr>
            <a:xfrm>
              <a:off x="0" y="0"/>
              <a:ext cx="4570920" cy="6856920"/>
            </a:xfrm>
            <a:custGeom>
              <a:avLst/>
              <a:gdLst/>
              <a:ah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close/>
                </a:path>
              </a:pathLst>
            </a:custGeom>
            <a:solidFill>
              <a:srgbClr val="99cc99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CustomShape 3"/>
            <p:cNvSpPr/>
            <p:nvPr/>
          </p:nvSpPr>
          <p:spPr>
            <a:xfrm>
              <a:off x="685800" y="990720"/>
              <a:ext cx="5180400" cy="1904040"/>
            </a:xfrm>
            <a:custGeom>
              <a:avLst/>
              <a:gdLst/>
              <a:ahLst/>
              <a:rect l="l" t="t" r="r" b="b"/>
              <a:pathLst>
                <a:path w="5181600" h="1905000">
                  <a:moveTo>
                    <a:pt x="4229100" y="0"/>
                  </a:moveTo>
                  <a:lnTo>
                    <a:pt x="952500" y="0"/>
                  </a:lnTo>
                  <a:lnTo>
                    <a:pt x="907866" y="1380"/>
                  </a:lnTo>
                  <a:lnTo>
                    <a:pt x="863319" y="5464"/>
                  </a:lnTo>
                  <a:lnTo>
                    <a:pt x="818947" y="12164"/>
                  </a:lnTo>
                  <a:lnTo>
                    <a:pt x="774836" y="21394"/>
                  </a:lnTo>
                  <a:lnTo>
                    <a:pt x="731074" y="33064"/>
                  </a:lnTo>
                  <a:lnTo>
                    <a:pt x="687748" y="47090"/>
                  </a:lnTo>
                  <a:lnTo>
                    <a:pt x="644946" y="63382"/>
                  </a:lnTo>
                  <a:lnTo>
                    <a:pt x="602753" y="81855"/>
                  </a:lnTo>
                  <a:lnTo>
                    <a:pt x="561259" y="102421"/>
                  </a:lnTo>
                  <a:lnTo>
                    <a:pt x="520549" y="124992"/>
                  </a:lnTo>
                  <a:lnTo>
                    <a:pt x="480711" y="149482"/>
                  </a:lnTo>
                  <a:lnTo>
                    <a:pt x="441833" y="175803"/>
                  </a:lnTo>
                  <a:lnTo>
                    <a:pt x="404001" y="203868"/>
                  </a:lnTo>
                  <a:lnTo>
                    <a:pt x="367303" y="233590"/>
                  </a:lnTo>
                  <a:lnTo>
                    <a:pt x="331825" y="264882"/>
                  </a:lnTo>
                  <a:lnTo>
                    <a:pt x="297656" y="297656"/>
                  </a:lnTo>
                  <a:lnTo>
                    <a:pt x="264882" y="331825"/>
                  </a:lnTo>
                  <a:lnTo>
                    <a:pt x="233590" y="367303"/>
                  </a:lnTo>
                  <a:lnTo>
                    <a:pt x="203868" y="404001"/>
                  </a:lnTo>
                  <a:lnTo>
                    <a:pt x="175803" y="441833"/>
                  </a:lnTo>
                  <a:lnTo>
                    <a:pt x="149482" y="480711"/>
                  </a:lnTo>
                  <a:lnTo>
                    <a:pt x="124992" y="520549"/>
                  </a:lnTo>
                  <a:lnTo>
                    <a:pt x="102421" y="561259"/>
                  </a:lnTo>
                  <a:lnTo>
                    <a:pt x="81855" y="602753"/>
                  </a:lnTo>
                  <a:lnTo>
                    <a:pt x="63382" y="644946"/>
                  </a:lnTo>
                  <a:lnTo>
                    <a:pt x="47090" y="687748"/>
                  </a:lnTo>
                  <a:lnTo>
                    <a:pt x="33064" y="731074"/>
                  </a:lnTo>
                  <a:lnTo>
                    <a:pt x="21394" y="774836"/>
                  </a:lnTo>
                  <a:lnTo>
                    <a:pt x="12164" y="818947"/>
                  </a:lnTo>
                  <a:lnTo>
                    <a:pt x="5464" y="863319"/>
                  </a:lnTo>
                  <a:lnTo>
                    <a:pt x="1380" y="907866"/>
                  </a:lnTo>
                  <a:lnTo>
                    <a:pt x="0" y="952500"/>
                  </a:lnTo>
                  <a:lnTo>
                    <a:pt x="1380" y="997133"/>
                  </a:lnTo>
                  <a:lnTo>
                    <a:pt x="5464" y="1041680"/>
                  </a:lnTo>
                  <a:lnTo>
                    <a:pt x="12164" y="1086052"/>
                  </a:lnTo>
                  <a:lnTo>
                    <a:pt x="21394" y="1130163"/>
                  </a:lnTo>
                  <a:lnTo>
                    <a:pt x="33064" y="1173925"/>
                  </a:lnTo>
                  <a:lnTo>
                    <a:pt x="47090" y="1217251"/>
                  </a:lnTo>
                  <a:lnTo>
                    <a:pt x="63382" y="1260053"/>
                  </a:lnTo>
                  <a:lnTo>
                    <a:pt x="81855" y="1302246"/>
                  </a:lnTo>
                  <a:lnTo>
                    <a:pt x="102421" y="1343740"/>
                  </a:lnTo>
                  <a:lnTo>
                    <a:pt x="124992" y="1384450"/>
                  </a:lnTo>
                  <a:lnTo>
                    <a:pt x="149482" y="1424288"/>
                  </a:lnTo>
                  <a:lnTo>
                    <a:pt x="175803" y="1463166"/>
                  </a:lnTo>
                  <a:lnTo>
                    <a:pt x="203868" y="1500998"/>
                  </a:lnTo>
                  <a:lnTo>
                    <a:pt x="233590" y="1537696"/>
                  </a:lnTo>
                  <a:lnTo>
                    <a:pt x="264882" y="1573174"/>
                  </a:lnTo>
                  <a:lnTo>
                    <a:pt x="297656" y="1607343"/>
                  </a:lnTo>
                  <a:lnTo>
                    <a:pt x="331825" y="1640117"/>
                  </a:lnTo>
                  <a:lnTo>
                    <a:pt x="367303" y="1671409"/>
                  </a:lnTo>
                  <a:lnTo>
                    <a:pt x="404001" y="1701131"/>
                  </a:lnTo>
                  <a:lnTo>
                    <a:pt x="441833" y="1729196"/>
                  </a:lnTo>
                  <a:lnTo>
                    <a:pt x="480711" y="1755517"/>
                  </a:lnTo>
                  <a:lnTo>
                    <a:pt x="520549" y="1780007"/>
                  </a:lnTo>
                  <a:lnTo>
                    <a:pt x="561259" y="1802578"/>
                  </a:lnTo>
                  <a:lnTo>
                    <a:pt x="602753" y="1823144"/>
                  </a:lnTo>
                  <a:lnTo>
                    <a:pt x="644946" y="1841617"/>
                  </a:lnTo>
                  <a:lnTo>
                    <a:pt x="687748" y="1857909"/>
                  </a:lnTo>
                  <a:lnTo>
                    <a:pt x="731074" y="1871935"/>
                  </a:lnTo>
                  <a:lnTo>
                    <a:pt x="774836" y="1883605"/>
                  </a:lnTo>
                  <a:lnTo>
                    <a:pt x="818947" y="1892835"/>
                  </a:lnTo>
                  <a:lnTo>
                    <a:pt x="863319" y="1899535"/>
                  </a:lnTo>
                  <a:lnTo>
                    <a:pt x="907866" y="1903619"/>
                  </a:lnTo>
                  <a:lnTo>
                    <a:pt x="952500" y="1905000"/>
                  </a:lnTo>
                  <a:lnTo>
                    <a:pt x="4229100" y="1905000"/>
                  </a:lnTo>
                  <a:lnTo>
                    <a:pt x="4273733" y="1903619"/>
                  </a:lnTo>
                  <a:lnTo>
                    <a:pt x="4318280" y="1899535"/>
                  </a:lnTo>
                  <a:lnTo>
                    <a:pt x="4362652" y="1892835"/>
                  </a:lnTo>
                  <a:lnTo>
                    <a:pt x="4406763" y="1883605"/>
                  </a:lnTo>
                  <a:lnTo>
                    <a:pt x="4450525" y="1871935"/>
                  </a:lnTo>
                  <a:lnTo>
                    <a:pt x="4493851" y="1857909"/>
                  </a:lnTo>
                  <a:lnTo>
                    <a:pt x="4536653" y="1841617"/>
                  </a:lnTo>
                  <a:lnTo>
                    <a:pt x="4578846" y="1823144"/>
                  </a:lnTo>
                  <a:lnTo>
                    <a:pt x="4620340" y="1802578"/>
                  </a:lnTo>
                  <a:lnTo>
                    <a:pt x="4661050" y="1780007"/>
                  </a:lnTo>
                  <a:lnTo>
                    <a:pt x="4700888" y="1755517"/>
                  </a:lnTo>
                  <a:lnTo>
                    <a:pt x="4739766" y="1729196"/>
                  </a:lnTo>
                  <a:lnTo>
                    <a:pt x="4777598" y="1701131"/>
                  </a:lnTo>
                  <a:lnTo>
                    <a:pt x="4814296" y="1671409"/>
                  </a:lnTo>
                  <a:lnTo>
                    <a:pt x="4849774" y="1640117"/>
                  </a:lnTo>
                  <a:lnTo>
                    <a:pt x="4883943" y="1607343"/>
                  </a:lnTo>
                  <a:lnTo>
                    <a:pt x="4916717" y="1573174"/>
                  </a:lnTo>
                  <a:lnTo>
                    <a:pt x="4948009" y="1537696"/>
                  </a:lnTo>
                  <a:lnTo>
                    <a:pt x="4977731" y="1500998"/>
                  </a:lnTo>
                  <a:lnTo>
                    <a:pt x="5005796" y="1463166"/>
                  </a:lnTo>
                  <a:lnTo>
                    <a:pt x="5032117" y="1424288"/>
                  </a:lnTo>
                  <a:lnTo>
                    <a:pt x="5056607" y="1384450"/>
                  </a:lnTo>
                  <a:lnTo>
                    <a:pt x="5079178" y="1343740"/>
                  </a:lnTo>
                  <a:lnTo>
                    <a:pt x="5099744" y="1302246"/>
                  </a:lnTo>
                  <a:lnTo>
                    <a:pt x="5118217" y="1260053"/>
                  </a:lnTo>
                  <a:lnTo>
                    <a:pt x="5134509" y="1217251"/>
                  </a:lnTo>
                  <a:lnTo>
                    <a:pt x="5148535" y="1173925"/>
                  </a:lnTo>
                  <a:lnTo>
                    <a:pt x="5160205" y="1130163"/>
                  </a:lnTo>
                  <a:lnTo>
                    <a:pt x="5169435" y="1086052"/>
                  </a:lnTo>
                  <a:lnTo>
                    <a:pt x="5176135" y="1041680"/>
                  </a:lnTo>
                  <a:lnTo>
                    <a:pt x="5180219" y="997133"/>
                  </a:lnTo>
                  <a:lnTo>
                    <a:pt x="5181600" y="952500"/>
                  </a:lnTo>
                  <a:lnTo>
                    <a:pt x="5180219" y="907866"/>
                  </a:lnTo>
                  <a:lnTo>
                    <a:pt x="5176135" y="863319"/>
                  </a:lnTo>
                  <a:lnTo>
                    <a:pt x="5169435" y="818947"/>
                  </a:lnTo>
                  <a:lnTo>
                    <a:pt x="5160205" y="774836"/>
                  </a:lnTo>
                  <a:lnTo>
                    <a:pt x="5148535" y="731074"/>
                  </a:lnTo>
                  <a:lnTo>
                    <a:pt x="5134509" y="687748"/>
                  </a:lnTo>
                  <a:lnTo>
                    <a:pt x="5118217" y="644946"/>
                  </a:lnTo>
                  <a:lnTo>
                    <a:pt x="5099744" y="602753"/>
                  </a:lnTo>
                  <a:lnTo>
                    <a:pt x="5079178" y="561259"/>
                  </a:lnTo>
                  <a:lnTo>
                    <a:pt x="5056607" y="520549"/>
                  </a:lnTo>
                  <a:lnTo>
                    <a:pt x="5032117" y="480711"/>
                  </a:lnTo>
                  <a:lnTo>
                    <a:pt x="5005796" y="441833"/>
                  </a:lnTo>
                  <a:lnTo>
                    <a:pt x="4977731" y="404001"/>
                  </a:lnTo>
                  <a:lnTo>
                    <a:pt x="4948009" y="367303"/>
                  </a:lnTo>
                  <a:lnTo>
                    <a:pt x="4916717" y="331825"/>
                  </a:lnTo>
                  <a:lnTo>
                    <a:pt x="4883943" y="297656"/>
                  </a:lnTo>
                  <a:lnTo>
                    <a:pt x="4849774" y="264882"/>
                  </a:lnTo>
                  <a:lnTo>
                    <a:pt x="4814296" y="233590"/>
                  </a:lnTo>
                  <a:lnTo>
                    <a:pt x="4777598" y="203868"/>
                  </a:lnTo>
                  <a:lnTo>
                    <a:pt x="4739766" y="175803"/>
                  </a:lnTo>
                  <a:lnTo>
                    <a:pt x="4700888" y="149482"/>
                  </a:lnTo>
                  <a:lnTo>
                    <a:pt x="4661050" y="124992"/>
                  </a:lnTo>
                  <a:lnTo>
                    <a:pt x="4620340" y="102421"/>
                  </a:lnTo>
                  <a:lnTo>
                    <a:pt x="4578846" y="81855"/>
                  </a:lnTo>
                  <a:lnTo>
                    <a:pt x="4536653" y="63382"/>
                  </a:lnTo>
                  <a:lnTo>
                    <a:pt x="4493851" y="47090"/>
                  </a:lnTo>
                  <a:lnTo>
                    <a:pt x="4450525" y="33064"/>
                  </a:lnTo>
                  <a:lnTo>
                    <a:pt x="4406763" y="21394"/>
                  </a:lnTo>
                  <a:lnTo>
                    <a:pt x="4362652" y="12164"/>
                  </a:lnTo>
                  <a:lnTo>
                    <a:pt x="4318280" y="5464"/>
                  </a:lnTo>
                  <a:lnTo>
                    <a:pt x="4273733" y="1380"/>
                  </a:lnTo>
                  <a:lnTo>
                    <a:pt x="4229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CustomShape 4"/>
            <p:cNvSpPr/>
            <p:nvPr/>
          </p:nvSpPr>
          <p:spPr>
            <a:xfrm>
              <a:off x="3632040" y="4889520"/>
              <a:ext cx="4875840" cy="317520"/>
            </a:xfrm>
            <a:custGeom>
              <a:avLst/>
              <a:gdLst/>
              <a:ahLst/>
              <a:rect l="l" t="t" r="r" b="b"/>
              <a:pathLst>
                <a:path w="4876800" h="318770">
                  <a:moveTo>
                    <a:pt x="4876800" y="160020"/>
                  </a:moveTo>
                  <a:lnTo>
                    <a:pt x="4869535" y="112661"/>
                  </a:lnTo>
                  <a:lnTo>
                    <a:pt x="4849774" y="69138"/>
                  </a:lnTo>
                  <a:lnTo>
                    <a:pt x="4820564" y="33286"/>
                  </a:lnTo>
                  <a:lnTo>
                    <a:pt x="4784953" y="8966"/>
                  </a:lnTo>
                  <a:lnTo>
                    <a:pt x="4745990" y="0"/>
                  </a:lnTo>
                  <a:lnTo>
                    <a:pt x="4625340" y="0"/>
                  </a:lnTo>
                  <a:lnTo>
                    <a:pt x="4616450" y="0"/>
                  </a:lnTo>
                  <a:lnTo>
                    <a:pt x="0" y="0"/>
                  </a:lnTo>
                  <a:lnTo>
                    <a:pt x="0" y="317500"/>
                  </a:lnTo>
                  <a:lnTo>
                    <a:pt x="4616450" y="317500"/>
                  </a:lnTo>
                  <a:lnTo>
                    <a:pt x="4616450" y="318770"/>
                  </a:lnTo>
                  <a:lnTo>
                    <a:pt x="4745990" y="318770"/>
                  </a:lnTo>
                  <a:lnTo>
                    <a:pt x="4784953" y="309943"/>
                  </a:lnTo>
                  <a:lnTo>
                    <a:pt x="4820564" y="285940"/>
                  </a:lnTo>
                  <a:lnTo>
                    <a:pt x="4849774" y="250469"/>
                  </a:lnTo>
                  <a:lnTo>
                    <a:pt x="4869535" y="207264"/>
                  </a:lnTo>
                  <a:lnTo>
                    <a:pt x="4876800" y="160020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" name="CustomShape 5"/>
          <p:cNvSpPr/>
          <p:nvPr/>
        </p:nvSpPr>
        <p:spPr>
          <a:xfrm>
            <a:off x="2664000" y="2298240"/>
            <a:ext cx="58226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4000" spc="616" strike="noStrike">
                <a:solidFill>
                  <a:srgbClr val="003366"/>
                </a:solidFill>
                <a:latin typeface="Times New Roman"/>
                <a:ea typeface="DejaVu Sans"/>
              </a:rPr>
              <a:t>EDGE</a:t>
            </a:r>
            <a:r>
              <a:rPr b="1" lang="en-IN" sz="4000" spc="616" strike="noStrike">
                <a:solidFill>
                  <a:srgbClr val="003366"/>
                </a:solidFill>
                <a:latin typeface="Times New Roman"/>
                <a:ea typeface="DejaVu Sans"/>
              </a:rPr>
              <a:t>	</a:t>
            </a:r>
            <a:r>
              <a:rPr b="1" lang="en-IN" sz="4000" spc="1021" strike="noStrike">
                <a:solidFill>
                  <a:srgbClr val="003366"/>
                </a:solidFill>
                <a:latin typeface="Times New Roman"/>
                <a:ea typeface="DejaVu Sans"/>
              </a:rPr>
              <a:t>Technology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2970360" y="1297800"/>
            <a:ext cx="384336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57" strike="noStrike">
                <a:solidFill>
                  <a:srgbClr val="006666"/>
                </a:solidFill>
                <a:latin typeface="Times New Roman"/>
                <a:ea typeface="DejaVu Sans"/>
              </a:rPr>
              <a:t>Introduction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955080" y="2351880"/>
            <a:ext cx="7918560" cy="3413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0840" bIns="0"/>
          <a:p>
            <a:pPr marL="393840" indent="-342000">
              <a:lnSpc>
                <a:spcPts val="3019"/>
              </a:lnSpc>
              <a:spcBef>
                <a:spcPts val="47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D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GE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ha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ced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Data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rates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for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G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lo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b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al  Evolution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Objective:</a:t>
            </a:r>
            <a:endParaRPr b="0" lang="en-IN" sz="2800" spc="-1" strike="noStrike">
              <a:latin typeface="Arial"/>
            </a:endParaRPr>
          </a:p>
          <a:p>
            <a:pPr marL="393840" indent="584280">
              <a:lnSpc>
                <a:spcPts val="3019"/>
              </a:lnSpc>
              <a:spcBef>
                <a:spcPts val="746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to 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increase data </a:t>
            </a:r>
            <a:r>
              <a:rPr b="0" lang="en-IN" sz="2800" spc="-4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transmission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rates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 and 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 spectral </a:t>
            </a:r>
            <a:r>
              <a:rPr b="0" lang="en-IN" sz="2800" spc="-4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efficiency</a:t>
            </a:r>
            <a:endParaRPr b="0" lang="en-IN" sz="2800" spc="-1" strike="noStrike">
              <a:latin typeface="Arial"/>
            </a:endParaRPr>
          </a:p>
          <a:p>
            <a:pPr marL="393840" indent="1273680">
              <a:lnSpc>
                <a:spcPts val="3019"/>
              </a:lnSpc>
              <a:spcBef>
                <a:spcPts val="700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-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to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f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acilitate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n</a:t>
            </a:r>
            <a:r>
              <a:rPr b="0" lang="en-IN" sz="2800" spc="-4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e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w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	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applica</a:t>
            </a:r>
            <a:r>
              <a:rPr b="0" lang="en-IN" sz="2800" spc="-7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t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ions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and  </a:t>
            </a:r>
            <a:r>
              <a:rPr b="0" lang="en-IN" sz="2800" spc="-1" strike="noStrike" u="heavy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Comic Sans MS"/>
                <a:ea typeface="DejaVu Sans"/>
              </a:rPr>
              <a:t>increased capacity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 for mobile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use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1219320" y="803880"/>
            <a:ext cx="734076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616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701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724" strike="noStrike">
                <a:solidFill>
                  <a:srgbClr val="006666"/>
                </a:solidFill>
                <a:latin typeface="Times New Roman"/>
                <a:ea typeface="DejaVu Sans"/>
              </a:rPr>
              <a:t>b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132" strike="noStrike">
                <a:solidFill>
                  <a:srgbClr val="006666"/>
                </a:solidFill>
                <a:latin typeface="Times New Roman"/>
                <a:ea typeface="DejaVu Sans"/>
              </a:rPr>
              <a:t>tt</a:t>
            </a:r>
            <a:r>
              <a:rPr b="1" lang="en-IN" sz="3600" spc="999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863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1132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902" strike="noStrike">
                <a:solidFill>
                  <a:srgbClr val="006666"/>
                </a:solidFill>
                <a:latin typeface="Times New Roman"/>
                <a:ea typeface="DejaVu Sans"/>
              </a:rPr>
              <a:t>h</a:t>
            </a:r>
            <a:r>
              <a:rPr b="1" lang="en-IN" sz="3600" spc="973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667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602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582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194" strike="noStrike">
                <a:solidFill>
                  <a:srgbClr val="006666"/>
                </a:solidFill>
                <a:latin typeface="Times New Roman"/>
                <a:ea typeface="DejaVu Sans"/>
              </a:rPr>
              <a:t>,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955080" y="1297800"/>
            <a:ext cx="7756200" cy="46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990000" algn="ctr">
              <a:lnSpc>
                <a:spcPct val="100000"/>
              </a:lnSpc>
              <a:spcBef>
                <a:spcPts val="99"/>
              </a:spcBef>
            </a:pPr>
            <a:r>
              <a:rPr b="1" lang="en-IN" sz="3600" spc="758" strike="noStrike">
                <a:solidFill>
                  <a:srgbClr val="006666"/>
                </a:solidFill>
                <a:latin typeface="Times New Roman"/>
                <a:ea typeface="DejaVu Sans"/>
              </a:rPr>
              <a:t>how?</a:t>
            </a:r>
            <a:endParaRPr b="0" lang="en-IN" sz="3600" spc="-1" strike="noStrike">
              <a:latin typeface="Arial"/>
            </a:endParaRPr>
          </a:p>
          <a:p>
            <a:pPr marL="990000">
              <a:lnSpc>
                <a:spcPct val="100000"/>
              </a:lnSpc>
              <a:spcBef>
                <a:spcPts val="6"/>
              </a:spcBef>
            </a:pPr>
            <a:endParaRPr b="0" lang="en-IN" sz="36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GPRS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 allows 115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kbps</a:t>
            </a:r>
            <a:endParaRPr b="0" lang="en-IN" sz="2800" spc="-1" strike="noStrike">
              <a:latin typeface="Arial"/>
            </a:endParaRPr>
          </a:p>
          <a:p>
            <a:pPr marL="1971000">
              <a:lnSpc>
                <a:spcPct val="100000"/>
              </a:lnSpc>
              <a:spcBef>
                <a:spcPts val="700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theoretically up to 160</a:t>
            </a:r>
            <a:r>
              <a:rPr b="0" lang="en-IN" sz="2800" spc="-26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kbps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EDGE – allows 384</a:t>
            </a:r>
            <a:r>
              <a:rPr b="0" lang="en-IN" sz="2800" spc="-18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kbps</a:t>
            </a:r>
            <a:endParaRPr b="0" lang="en-IN" sz="2800" spc="-1" strike="noStrike">
              <a:latin typeface="Arial"/>
            </a:endParaRPr>
          </a:p>
          <a:p>
            <a:pPr marL="1833120">
              <a:lnSpc>
                <a:spcPct val="100000"/>
              </a:lnSpc>
              <a:spcBef>
                <a:spcPts val="700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theoretically up to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473.6</a:t>
            </a:r>
            <a:r>
              <a:rPr b="0" lang="en-IN" sz="2800" spc="-32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kbps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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new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modulation</a:t>
            </a:r>
            <a:r>
              <a:rPr b="0" lang="en-IN" sz="2800" spc="-12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technique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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error tolerant tx methods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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improved link adaptation</a:t>
            </a:r>
            <a:r>
              <a:rPr b="0" lang="en-IN" sz="2800" spc="-18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mechanisms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1"/>
          <p:cNvGrpSpPr/>
          <p:nvPr/>
        </p:nvGrpSpPr>
        <p:grpSpPr>
          <a:xfrm>
            <a:off x="762120" y="380880"/>
            <a:ext cx="7999920" cy="5866560"/>
            <a:chOff x="762120" y="380880"/>
            <a:chExt cx="7999920" cy="5866560"/>
          </a:xfrm>
        </p:grpSpPr>
        <p:sp>
          <p:nvSpPr>
            <p:cNvPr id="92" name="CustomShape 2"/>
            <p:cNvSpPr/>
            <p:nvPr/>
          </p:nvSpPr>
          <p:spPr>
            <a:xfrm>
              <a:off x="762120" y="380880"/>
              <a:ext cx="7999920" cy="4494600"/>
            </a:xfrm>
            <a:prstGeom prst="rect">
              <a:avLst/>
            </a:prstGeom>
            <a:blipFill rotWithShape="0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3"/>
            <p:cNvSpPr/>
            <p:nvPr/>
          </p:nvSpPr>
          <p:spPr>
            <a:xfrm>
              <a:off x="1219320" y="4800600"/>
              <a:ext cx="7390440" cy="1446840"/>
            </a:xfrm>
            <a:prstGeom prst="rect">
              <a:avLst/>
            </a:prstGeom>
            <a:blipFill rotWithShape="0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1395720" y="803880"/>
            <a:ext cx="698976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900" strike="noStrike">
                <a:solidFill>
                  <a:srgbClr val="006666"/>
                </a:solidFill>
                <a:latin typeface="Times New Roman"/>
                <a:ea typeface="DejaVu Sans"/>
              </a:rPr>
              <a:t>Base</a:t>
            </a:r>
            <a:r>
              <a:rPr b="1" lang="en-IN" sz="3600" spc="900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82" strike="noStrike">
                <a:solidFill>
                  <a:srgbClr val="006666"/>
                </a:solidFill>
                <a:latin typeface="Times New Roman"/>
                <a:ea typeface="DejaVu Sans"/>
              </a:rPr>
              <a:t>Station</a:t>
            </a:r>
            <a:r>
              <a:rPr b="1" lang="en-IN" sz="3600" spc="882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09" strike="noStrike">
                <a:solidFill>
                  <a:srgbClr val="006666"/>
                </a:solidFill>
                <a:latin typeface="Times New Roman"/>
                <a:ea typeface="DejaVu Sans"/>
              </a:rPr>
              <a:t>Subsystem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4140360" y="1297800"/>
            <a:ext cx="1508400" cy="56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287" strike="noStrike">
                <a:solidFill>
                  <a:srgbClr val="006666"/>
                </a:solidFill>
                <a:latin typeface="Times New Roman"/>
                <a:ea typeface="DejaVu Sans"/>
              </a:rPr>
              <a:t>(</a:t>
            </a:r>
            <a:r>
              <a:rPr b="1" lang="en-IN" sz="3600" spc="797" strike="noStrike">
                <a:solidFill>
                  <a:srgbClr val="006666"/>
                </a:solidFill>
                <a:latin typeface="Times New Roman"/>
                <a:ea typeface="DejaVu Sans"/>
              </a:rPr>
              <a:t>B</a:t>
            </a: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SS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955080" y="2395080"/>
            <a:ext cx="280368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50760">
              <a:lnSpc>
                <a:spcPct val="100000"/>
              </a:lnSpc>
              <a:spcBef>
                <a:spcPts val="99"/>
              </a:spcBef>
            </a:pPr>
            <a:r>
              <a:rPr b="0" lang="en-IN" sz="3150" spc="-1" strike="noStrike" baseline="13000">
                <a:solidFill>
                  <a:srgbClr val="003366"/>
                </a:solidFill>
                <a:latin typeface="UnDotum"/>
                <a:ea typeface="DejaVu Sans"/>
              </a:rPr>
              <a:t></a:t>
            </a:r>
            <a:r>
              <a:rPr b="0" lang="en-IN" sz="3150" spc="-38" strike="noStrike" baseline="13000">
                <a:solidFill>
                  <a:srgbClr val="003366"/>
                </a:solidFill>
                <a:latin typeface="UnDotum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Composed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of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4082760" y="2395080"/>
            <a:ext cx="556452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Base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St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tion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T</a:t>
            </a:r>
            <a:r>
              <a:rPr b="0" lang="en-IN" sz="2800" spc="4" strike="noStrike">
                <a:solidFill>
                  <a:srgbClr val="003366"/>
                </a:solidFill>
                <a:latin typeface="Comic Sans MS"/>
                <a:ea typeface="DejaVu Sans"/>
              </a:rPr>
              <a:t>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sc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iver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1335960" y="2822040"/>
            <a:ext cx="809532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(BTS) and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Base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station controller</a:t>
            </a:r>
            <a:r>
              <a:rPr b="0" lang="en-IN" sz="2800" spc="-26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(BSC)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942480" y="3336120"/>
            <a:ext cx="6184800" cy="4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63360">
              <a:lnSpc>
                <a:spcPct val="100000"/>
              </a:lnSpc>
              <a:spcBef>
                <a:spcPts val="99"/>
              </a:spcBef>
            </a:pPr>
            <a:r>
              <a:rPr b="0" lang="en-IN" sz="3150" spc="-1" strike="noStrike" baseline="13000">
                <a:solidFill>
                  <a:srgbClr val="003366"/>
                </a:solidFill>
                <a:latin typeface="UnDotum"/>
                <a:ea typeface="DejaVu Sans"/>
              </a:rPr>
              <a:t></a:t>
            </a:r>
            <a:r>
              <a:rPr b="0" lang="en-IN" sz="3150" spc="-38" strike="noStrike" baseline="13000">
                <a:solidFill>
                  <a:srgbClr val="003366"/>
                </a:solidFill>
                <a:latin typeface="UnDotum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BTS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radio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transmission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0" name="CustomShape 7"/>
          <p:cNvSpPr/>
          <p:nvPr/>
        </p:nvSpPr>
        <p:spPr>
          <a:xfrm>
            <a:off x="6349320" y="3336120"/>
            <a:ext cx="3153960" cy="43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and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reception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1" name="CustomShape 8"/>
          <p:cNvSpPr/>
          <p:nvPr/>
        </p:nvSpPr>
        <p:spPr>
          <a:xfrm>
            <a:off x="955080" y="3763080"/>
            <a:ext cx="8188200" cy="22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93840" algn="just">
              <a:lnSpc>
                <a:spcPct val="100000"/>
              </a:lnSpc>
              <a:spcBef>
                <a:spcPts val="99"/>
              </a:spcBef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equipment.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It provides coverage to a  particular geographic area and is controlled 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by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BSC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700"/>
              </a:spcBef>
            </a:pPr>
            <a:r>
              <a:rPr b="0" lang="en-IN" sz="3150" spc="-1" strike="noStrike" baseline="13000">
                <a:solidFill>
                  <a:srgbClr val="003366"/>
                </a:solidFill>
                <a:latin typeface="UnDotum"/>
                <a:ea typeface="DejaVu Sans"/>
              </a:rPr>
              <a:t>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BSC -- handles the medium access and radio  resource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scheduling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1597680" y="803880"/>
            <a:ext cx="658656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163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v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783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602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582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763" strike="noStrike">
                <a:solidFill>
                  <a:srgbClr val="006666"/>
                </a:solidFill>
                <a:latin typeface="Times New Roman"/>
                <a:ea typeface="DejaVu Sans"/>
              </a:rPr>
              <a:t>u</a:t>
            </a:r>
            <a:r>
              <a:rPr b="1" lang="en-IN" sz="3600" spc="642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627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1152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837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3089880" y="1297800"/>
            <a:ext cx="3606840" cy="56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43" strike="noStrike">
                <a:solidFill>
                  <a:srgbClr val="006666"/>
                </a:solidFill>
                <a:latin typeface="Times New Roman"/>
                <a:ea typeface="DejaVu Sans"/>
              </a:rPr>
              <a:t>Node</a:t>
            </a:r>
            <a:r>
              <a:rPr b="1" lang="en-IN" sz="3600" spc="843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568" strike="noStrike">
                <a:solidFill>
                  <a:srgbClr val="006666"/>
                </a:solidFill>
                <a:latin typeface="Times New Roman"/>
                <a:ea typeface="DejaVu Sans"/>
              </a:rPr>
              <a:t>(SGSN)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828000" y="2321640"/>
            <a:ext cx="8163720" cy="40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/>
          <a:p>
            <a:pPr marL="520560" indent="-342000" algn="just">
              <a:lnSpc>
                <a:spcPct val="79000"/>
              </a:lnSpc>
              <a:spcBef>
                <a:spcPts val="675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Controls GPRS service in a particular geographical  coverage area</a:t>
            </a:r>
            <a:endParaRPr b="0" lang="en-IN" sz="2400" spc="-1" strike="noStrike">
              <a:latin typeface="Arial"/>
            </a:endParaRPr>
          </a:p>
          <a:p>
            <a:pPr lvl="1" marL="920880" indent="-284760" algn="just">
              <a:lnSpc>
                <a:spcPts val="2591"/>
              </a:lnSpc>
              <a:spcBef>
                <a:spcPts val="20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provides a point of attachment for the</a:t>
            </a:r>
            <a:r>
              <a:rPr b="0" lang="en-IN" sz="2400" spc="449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GPRS</a:t>
            </a:r>
            <a:endParaRPr b="0" lang="en-IN" sz="2400" spc="-1" strike="noStrike">
              <a:latin typeface="Arial"/>
            </a:endParaRPr>
          </a:p>
          <a:p>
            <a:pPr marL="920160" algn="just">
              <a:lnSpc>
                <a:spcPct val="80000"/>
              </a:lnSpc>
              <a:spcBef>
                <a:spcPts val="289"/>
              </a:spcBef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mobiles. A logical link is established between the  mobile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station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and the SGSN, via the base 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station</a:t>
            </a:r>
            <a:endParaRPr b="0" lang="en-IN" sz="2400" spc="-1" strike="noStrike">
              <a:latin typeface="Arial"/>
            </a:endParaRPr>
          </a:p>
          <a:p>
            <a:pPr lvl="1" marL="920160" indent="-284760" algn="just">
              <a:lnSpc>
                <a:spcPct val="79000"/>
              </a:lnSpc>
              <a:spcBef>
                <a:spcPts val="595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responsible for the transport and delivery of  packets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to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and from the user</a:t>
            </a:r>
            <a:endParaRPr b="0" lang="en-IN" sz="2400" spc="-1" strike="noStrike">
              <a:latin typeface="Arial"/>
            </a:endParaRPr>
          </a:p>
          <a:p>
            <a:pPr lvl="1" marL="285120" indent="-284040" algn="r">
              <a:lnSpc>
                <a:spcPts val="2591"/>
              </a:lnSpc>
              <a:spcBef>
                <a:spcPts val="20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is</a:t>
            </a:r>
            <a:r>
              <a:rPr b="0" lang="en-IN" sz="2400" spc="28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responsible</a:t>
            </a:r>
            <a:r>
              <a:rPr b="0" lang="en-IN" sz="2400" spc="301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for</a:t>
            </a:r>
            <a:r>
              <a:rPr b="0" lang="en-IN" sz="2400" spc="293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validating</a:t>
            </a:r>
            <a:r>
              <a:rPr b="0" lang="en-IN" sz="2400" spc="299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</a:t>
            </a:r>
            <a:r>
              <a:rPr b="0" lang="en-IN" sz="2400" spc="299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mobile</a:t>
            </a:r>
            <a:r>
              <a:rPr b="0" lang="en-IN" sz="2400" spc="301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stations,</a:t>
            </a:r>
            <a:endParaRPr b="0" lang="en-IN" sz="2400" spc="-1" strike="noStrike">
              <a:latin typeface="Arial"/>
            </a:endParaRPr>
          </a:p>
          <a:p>
            <a:pPr algn="r">
              <a:lnSpc>
                <a:spcPts val="2299"/>
              </a:lnSpc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before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7" strike="noStrike">
                <a:solidFill>
                  <a:srgbClr val="003366"/>
                </a:solidFill>
                <a:latin typeface="Comic Sans MS"/>
                <a:ea typeface="DejaVu Sans"/>
              </a:rPr>
              <a:t>t</a:t>
            </a:r>
            <a:r>
              <a:rPr b="0" lang="en-IN" sz="2400" spc="4" strike="noStrike">
                <a:solidFill>
                  <a:srgbClr val="003366"/>
                </a:solidFill>
                <a:latin typeface="Comic Sans MS"/>
                <a:ea typeface="DejaVu Sans"/>
              </a:rPr>
              <a:t>h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ey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re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llo</a:t>
            </a:r>
            <a:r>
              <a:rPr b="0" lang="en-IN" sz="2400" spc="-7" strike="noStrike">
                <a:solidFill>
                  <a:srgbClr val="003366"/>
                </a:solidFill>
                <a:latin typeface="Comic Sans MS"/>
                <a:ea typeface="DejaVu Sans"/>
              </a:rPr>
              <a:t>w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ed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cce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s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s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7" strike="noStrike">
                <a:solidFill>
                  <a:srgbClr val="003366"/>
                </a:solidFill>
                <a:latin typeface="Comic Sans MS"/>
                <a:ea typeface="DejaVu Sans"/>
              </a:rPr>
              <a:t>t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o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7" strike="noStrike">
                <a:solidFill>
                  <a:srgbClr val="003366"/>
                </a:solidFill>
                <a:latin typeface="Comic Sans MS"/>
                <a:ea typeface="DejaVu Sans"/>
              </a:rPr>
              <a:t>t</a:t>
            </a:r>
            <a:r>
              <a:rPr b="0" lang="en-IN" sz="2400" spc="4" strike="noStrike">
                <a:solidFill>
                  <a:srgbClr val="003366"/>
                </a:solidFill>
                <a:latin typeface="Comic Sans MS"/>
                <a:ea typeface="DejaVu Sans"/>
              </a:rPr>
              <a:t>h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GPRS</a:t>
            </a:r>
            <a:endParaRPr b="0" lang="en-IN" sz="2400" spc="-1" strike="noStrike">
              <a:latin typeface="Arial"/>
            </a:endParaRPr>
          </a:p>
          <a:p>
            <a:pPr marL="920160" algn="just">
              <a:lnSpc>
                <a:spcPct val="79000"/>
              </a:lnSpc>
              <a:spcBef>
                <a:spcPts val="289"/>
              </a:spcBef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system, and also performing security functions  such as authentication and ciphering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1468080" y="803880"/>
            <a:ext cx="684432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77" strike="noStrike">
                <a:solidFill>
                  <a:srgbClr val="006666"/>
                </a:solidFill>
                <a:latin typeface="Times New Roman"/>
                <a:ea typeface="DejaVu Sans"/>
              </a:rPr>
              <a:t>Gateway</a:t>
            </a:r>
            <a:r>
              <a:rPr b="1" lang="en-IN" sz="3600" spc="877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647" strike="noStrike">
                <a:solidFill>
                  <a:srgbClr val="006666"/>
                </a:solidFill>
                <a:latin typeface="Times New Roman"/>
                <a:ea typeface="DejaVu Sans"/>
              </a:rPr>
              <a:t>GPRS</a:t>
            </a:r>
            <a:r>
              <a:rPr b="1" lang="en-IN" sz="3600" spc="647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Support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3059280" y="1297800"/>
            <a:ext cx="3668040" cy="56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701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287" strike="noStrike">
                <a:solidFill>
                  <a:srgbClr val="006666"/>
                </a:solidFill>
                <a:latin typeface="Times New Roman"/>
                <a:ea typeface="DejaVu Sans"/>
              </a:rPr>
              <a:t>(</a:t>
            </a:r>
            <a:r>
              <a:rPr b="1" lang="en-IN" sz="3600" spc="574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7" name="CustomShape 3"/>
          <p:cNvSpPr/>
          <p:nvPr/>
        </p:nvSpPr>
        <p:spPr>
          <a:xfrm>
            <a:off x="942480" y="2395080"/>
            <a:ext cx="7937640" cy="382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406440" indent="-342000" algn="just">
              <a:lnSpc>
                <a:spcPct val="100000"/>
              </a:lnSpc>
              <a:spcBef>
                <a:spcPts val="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provides connectivity to the external packet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data  networks</a:t>
            </a:r>
            <a:endParaRPr b="0" lang="en-IN" sz="2400" spc="-1" strike="noStrike">
              <a:latin typeface="Arial"/>
            </a:endParaRPr>
          </a:p>
          <a:p>
            <a:pPr marL="406440" indent="-342000" algn="just">
              <a:lnSpc>
                <a:spcPct val="100000"/>
              </a:lnSpc>
              <a:spcBef>
                <a:spcPts val="601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primary role is to route data to the mobile stations  at their current points of attachment</a:t>
            </a:r>
            <a:endParaRPr b="0" lang="en-IN" sz="2400" spc="-1" strike="noStrike">
              <a:latin typeface="Arial"/>
            </a:endParaRPr>
          </a:p>
          <a:p>
            <a:pPr marL="406440" indent="-342000" algn="just">
              <a:lnSpc>
                <a:spcPct val="100000"/>
              </a:lnSpc>
              <a:spcBef>
                <a:spcPts val="601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Once the mobile station activates its packet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data  address,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mobile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station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is registered with the  corresponding GGSN. The GGSN maintains a  routing table associating the active GPRS mobiles in  the system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with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a particular SGSN.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244520" y="311040"/>
            <a:ext cx="7291440" cy="155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800" algn="ctr">
              <a:lnSpc>
                <a:spcPts val="4099"/>
              </a:lnSpc>
              <a:spcBef>
                <a:spcPts val="99"/>
              </a:spcBef>
            </a:pPr>
            <a:r>
              <a:rPr b="1" lang="en-IN" sz="3600" spc="554" strike="noStrike">
                <a:solidFill>
                  <a:srgbClr val="006666"/>
                </a:solidFill>
                <a:latin typeface="Times New Roman"/>
                <a:ea typeface="DejaVu Sans"/>
              </a:rPr>
              <a:t>EDGE</a:t>
            </a:r>
            <a:r>
              <a:rPr b="1" lang="en-IN" sz="3600" spc="554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17" strike="noStrike">
                <a:solidFill>
                  <a:srgbClr val="006666"/>
                </a:solidFill>
                <a:latin typeface="Times New Roman"/>
                <a:ea typeface="DejaVu Sans"/>
              </a:rPr>
              <a:t>vs</a:t>
            </a:r>
            <a:r>
              <a:rPr b="1" lang="en-IN" sz="3600" spc="817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647" strike="noStrike">
                <a:solidFill>
                  <a:srgbClr val="006666"/>
                </a:solidFill>
                <a:latin typeface="Times New Roman"/>
                <a:ea typeface="DejaVu Sans"/>
              </a:rPr>
              <a:t>GPRS</a:t>
            </a:r>
            <a:r>
              <a:rPr b="1" lang="en-IN" sz="3600" spc="647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962" strike="noStrike">
                <a:solidFill>
                  <a:srgbClr val="006666"/>
                </a:solidFill>
                <a:latin typeface="Times New Roman"/>
                <a:ea typeface="DejaVu Sans"/>
              </a:rPr>
              <a:t>–</a:t>
            </a:r>
            <a:r>
              <a:rPr b="1" lang="en-IN" sz="3600" spc="962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687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endParaRPr b="0" lang="en-IN" sz="3600" spc="-1" strike="noStrike">
              <a:latin typeface="Arial"/>
            </a:endParaRPr>
          </a:p>
          <a:p>
            <a:pPr marL="12600" algn="ctr">
              <a:lnSpc>
                <a:spcPts val="3889"/>
              </a:lnSpc>
              <a:spcBef>
                <a:spcPts val="264"/>
              </a:spcBef>
            </a:pPr>
            <a:r>
              <a:rPr b="1" lang="en-IN" sz="3600" spc="1197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233" strike="noStrike">
                <a:solidFill>
                  <a:srgbClr val="006666"/>
                </a:solidFill>
                <a:latin typeface="Times New Roman"/>
                <a:ea typeface="DejaVu Sans"/>
              </a:rPr>
              <a:t>m</a:t>
            </a:r>
            <a:r>
              <a:rPr b="1" lang="en-IN" sz="3600" spc="627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1152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1104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r>
              <a:rPr b="1" lang="en-IN" sz="3600" spc="1041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667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f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1146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197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900" strike="noStrike">
                <a:solidFill>
                  <a:srgbClr val="006666"/>
                </a:solidFill>
                <a:latin typeface="Times New Roman"/>
                <a:ea typeface="DejaVu Sans"/>
              </a:rPr>
              <a:t>h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1197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l  </a:t>
            </a:r>
            <a:r>
              <a:rPr b="1" lang="en-IN" sz="3600" spc="902" strike="noStrike">
                <a:solidFill>
                  <a:srgbClr val="006666"/>
                </a:solidFill>
                <a:latin typeface="Times New Roman"/>
                <a:ea typeface="DejaVu Sans"/>
              </a:rPr>
              <a:t>data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1069200" y="2720520"/>
            <a:ext cx="7705440" cy="39484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2527200" y="1297800"/>
            <a:ext cx="47282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718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900" strike="noStrike">
                <a:solidFill>
                  <a:srgbClr val="006666"/>
                </a:solidFill>
                <a:latin typeface="Times New Roman"/>
                <a:ea typeface="DejaVu Sans"/>
              </a:rPr>
              <a:t>h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058" strike="noStrike">
                <a:solidFill>
                  <a:srgbClr val="006666"/>
                </a:solidFill>
                <a:latin typeface="Times New Roman"/>
                <a:ea typeface="DejaVu Sans"/>
              </a:rPr>
              <a:t>l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707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783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967680" y="2395080"/>
            <a:ext cx="7882920" cy="91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80880" indent="-342000">
              <a:lnSpc>
                <a:spcPct val="100000"/>
              </a:lnSpc>
              <a:spcBef>
                <a:spcPts val="99"/>
              </a:spcBef>
            </a:pPr>
            <a:r>
              <a:rPr b="0" lang="en-IN" sz="3150" spc="-1" strike="noStrike" baseline="13000">
                <a:solidFill>
                  <a:srgbClr val="003366"/>
                </a:solidFill>
                <a:latin typeface="UnDotum"/>
                <a:ea typeface="DejaVu Sans"/>
              </a:rPr>
              <a:t></a:t>
            </a:r>
            <a:r>
              <a:rPr b="0" lang="en-IN" sz="3150" spc="-38" strike="noStrike" baseline="13000">
                <a:solidFill>
                  <a:srgbClr val="003366"/>
                </a:solidFill>
                <a:latin typeface="UnDotum"/>
                <a:ea typeface="DejaVu Sans"/>
              </a:rPr>
              <a:t> 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B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oth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the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net</a:t>
            </a:r>
            <a:r>
              <a:rPr b="0" lang="en-IN" sz="2800" spc="-18" strike="noStrike">
                <a:solidFill>
                  <a:srgbClr val="003366"/>
                </a:solidFill>
                <a:latin typeface="Arial"/>
                <a:ea typeface="DejaVu Sans"/>
              </a:rPr>
              <a:t>w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orks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support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4" strike="noStrike">
                <a:solidFill>
                  <a:srgbClr val="003366"/>
                </a:solidFill>
                <a:latin typeface="Arial"/>
                <a:ea typeface="DejaVu Sans"/>
              </a:rPr>
              <a:t>a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d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a</a:t>
            </a:r>
            <a:r>
              <a:rPr b="0" lang="en-IN" sz="2800" spc="4" strike="noStrike">
                <a:solidFill>
                  <a:srgbClr val="003366"/>
                </a:solidFill>
                <a:latin typeface="Arial"/>
                <a:ea typeface="DejaVu Sans"/>
              </a:rPr>
              <a:t>p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tive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channel  coding—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993240" y="3363120"/>
            <a:ext cx="290880" cy="33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1" strike="noStrike">
                <a:solidFill>
                  <a:srgbClr val="003366"/>
                </a:solidFill>
                <a:latin typeface="UnDotum"/>
                <a:ea typeface="DejaVu Sans"/>
              </a:rPr>
              <a:t>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993240" y="4305240"/>
            <a:ext cx="290880" cy="33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IN" sz="2100" spc="-1" strike="noStrike">
                <a:solidFill>
                  <a:srgbClr val="003366"/>
                </a:solidFill>
                <a:latin typeface="UnDotum"/>
                <a:ea typeface="DejaVu Sans"/>
              </a:rPr>
              <a:t>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14" name="CustomShape 5"/>
          <p:cNvSpPr/>
          <p:nvPr/>
        </p:nvSpPr>
        <p:spPr>
          <a:xfrm>
            <a:off x="1335960" y="3336120"/>
            <a:ext cx="7490160" cy="223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 indent="1037520" algn="just">
              <a:lnSpc>
                <a:spcPct val="100000"/>
              </a:lnSpc>
              <a:spcBef>
                <a:spcPts val="99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for good channel conditions maximum  throughput is aimed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at</a:t>
            </a:r>
            <a:endParaRPr b="0" lang="en-IN" sz="2800" spc="-1" strike="noStrike">
              <a:latin typeface="Arial"/>
            </a:endParaRPr>
          </a:p>
          <a:p>
            <a:pPr marL="12600" indent="676800" algn="just">
              <a:lnSpc>
                <a:spcPct val="100000"/>
              </a:lnSpc>
              <a:spcBef>
                <a:spcPts val="700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for poorer channel conditions error control  bits are used to reduce errors and hence  reduce the number of re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transmissions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2550240" y="1297800"/>
            <a:ext cx="468252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772" strike="noStrike">
                <a:solidFill>
                  <a:srgbClr val="006666"/>
                </a:solidFill>
                <a:latin typeface="Times New Roman"/>
                <a:ea typeface="DejaVu Sans"/>
              </a:rPr>
              <a:t>Coding</a:t>
            </a:r>
            <a:r>
              <a:rPr b="1" lang="en-IN" sz="3600" spc="772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51" strike="noStrike">
                <a:solidFill>
                  <a:srgbClr val="006666"/>
                </a:solidFill>
                <a:latin typeface="Times New Roman"/>
                <a:ea typeface="DejaVu Sans"/>
              </a:rPr>
              <a:t>Schemes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967680" y="2306160"/>
            <a:ext cx="7886880" cy="385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/>
          <a:p>
            <a:pPr marL="380880" indent="-342000" algn="just">
              <a:lnSpc>
                <a:spcPct val="100000"/>
              </a:lnSpc>
              <a:spcBef>
                <a:spcPts val="7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GPRS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 4 coding schemes – CS1 to</a:t>
            </a:r>
            <a:r>
              <a:rPr b="0" lang="en-IN" sz="2800" spc="-38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CS4</a:t>
            </a:r>
            <a:endParaRPr b="0" lang="en-IN" sz="2800" spc="-1" strike="noStrike">
              <a:latin typeface="Arial"/>
            </a:endParaRPr>
          </a:p>
          <a:p>
            <a:pPr marL="380880" indent="661680" algn="just">
              <a:lnSpc>
                <a:spcPct val="99000"/>
              </a:lnSpc>
              <a:spcBef>
                <a:spcPts val="700"/>
              </a:spcBef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Each has different amounts of error  correcting coding that is optimized for  different radio environments.</a:t>
            </a:r>
            <a:endParaRPr b="0" lang="en-IN" sz="2800" spc="-1" strike="noStrike">
              <a:latin typeface="Arial"/>
            </a:endParaRPr>
          </a:p>
          <a:p>
            <a:pPr marL="38088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EDGE – 9 coding schemes – MCS1 to</a:t>
            </a:r>
            <a:r>
              <a:rPr b="0" lang="en-IN" sz="2800" spc="-38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MCS9</a:t>
            </a:r>
            <a:endParaRPr b="0" lang="en-IN" sz="2800" spc="-1" strike="noStrike">
              <a:latin typeface="Arial"/>
            </a:endParaRPr>
          </a:p>
          <a:p>
            <a:pPr lvl="1" marL="781200" indent="-28476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MCS1 to MCS4 –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use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GMSK</a:t>
            </a:r>
            <a:endParaRPr b="0" lang="en-IN" sz="2800" spc="-1" strike="noStrike">
              <a:latin typeface="Arial"/>
            </a:endParaRPr>
          </a:p>
          <a:p>
            <a:pPr lvl="1" marL="781200" indent="-284760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MCS5 to MCS9 – use</a:t>
            </a:r>
            <a:r>
              <a:rPr b="0" lang="en-IN" sz="2800" spc="-18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8PSK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009960" y="1297800"/>
            <a:ext cx="37652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6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1132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999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152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3600" spc="1347" strike="noStrike">
                <a:solidFill>
                  <a:srgbClr val="006666"/>
                </a:solidFill>
                <a:latin typeface="Times New Roman"/>
                <a:ea typeface="DejaVu Sans"/>
              </a:rPr>
              <a:t>l</a:t>
            </a:r>
            <a:r>
              <a:rPr b="1" lang="en-IN" sz="3600" spc="999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973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823" strike="noStrike">
                <a:solidFill>
                  <a:srgbClr val="006666"/>
                </a:solidFill>
                <a:latin typeface="Times New Roman"/>
                <a:ea typeface="DejaVu Sans"/>
              </a:rPr>
              <a:t>v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783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955080" y="2395080"/>
            <a:ext cx="7907040" cy="286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93840" indent="-342000" algn="just">
              <a:lnSpc>
                <a:spcPct val="100000"/>
              </a:lnSpc>
              <a:spcBef>
                <a:spcPts val="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Blocks are broken up and interleaved 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between 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bursts. 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To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receive the 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whole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data all the bursts  need to be</a:t>
            </a: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received.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For GPRS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– 1 in 4</a:t>
            </a:r>
            <a:r>
              <a:rPr b="0" lang="en-IN" sz="2800" spc="-52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bursts.</a:t>
            </a:r>
            <a:endParaRPr b="0" lang="en-IN" sz="2800" spc="-1" strike="noStrike">
              <a:latin typeface="Arial"/>
            </a:endParaRPr>
          </a:p>
          <a:p>
            <a:pPr marL="39384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For EDGE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– 1 in 2</a:t>
            </a:r>
            <a:r>
              <a:rPr b="0" lang="en-IN" sz="2800" spc="-52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bursts.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126440" y="1297800"/>
            <a:ext cx="74012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82" strike="noStrike">
                <a:solidFill>
                  <a:srgbClr val="006666"/>
                </a:solidFill>
                <a:latin typeface="Times New Roman"/>
                <a:ea typeface="DejaVu Sans"/>
              </a:rPr>
              <a:t>Incremental </a:t>
            </a:r>
            <a:r>
              <a:rPr b="1" lang="en-IN" sz="3600" spc="843" strike="noStrike">
                <a:solidFill>
                  <a:srgbClr val="006666"/>
                </a:solidFill>
                <a:latin typeface="Times New Roman"/>
                <a:ea typeface="DejaVu Sans"/>
              </a:rPr>
              <a:t>Redundan</a:t>
            </a:r>
            <a:r>
              <a:rPr b="1" lang="en-IN" sz="3600" spc="843" strike="noStrike">
                <a:solidFill>
                  <a:srgbClr val="006666"/>
                </a:solidFill>
                <a:latin typeface="Times New Roman"/>
                <a:ea typeface="DejaVu Sans"/>
              </a:rPr>
              <a:t>cy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967680" y="2306160"/>
            <a:ext cx="7887600" cy="324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/>
          <a:p>
            <a:pPr marL="380880" indent="-342000" algn="just">
              <a:lnSpc>
                <a:spcPct val="100000"/>
              </a:lnSpc>
              <a:spcBef>
                <a:spcPts val="7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Initially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uses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MCS9 and if noise level increases then coding scheme is changed(adaptive coding) to sustain the noise level</a:t>
            </a:r>
            <a:endParaRPr b="0" lang="en-IN" sz="2800" spc="-1" strike="noStrike">
              <a:latin typeface="Arial"/>
            </a:endParaRPr>
          </a:p>
          <a:p>
            <a:pPr marL="380880" indent="-342000" algn="just">
              <a:lnSpc>
                <a:spcPct val="99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If Information received incorrectly then Retransmission takes place and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combined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in  the receiver with the previously received  information.</a:t>
            </a:r>
            <a:endParaRPr b="0" lang="en-IN" sz="2800" spc="-1" strike="noStrike">
              <a:latin typeface="Arial"/>
            </a:endParaRPr>
          </a:p>
          <a:p>
            <a:pPr marL="380880" indent="-342000" algn="just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Procedure is repeated until information is 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successfully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decoded.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635840" y="1297800"/>
            <a:ext cx="65120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Modulation</a:t>
            </a: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technique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929520" y="2395080"/>
            <a:ext cx="7963560" cy="266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419040" indent="-342000" algn="just">
              <a:lnSpc>
                <a:spcPct val="100000"/>
              </a:lnSpc>
              <a:spcBef>
                <a:spcPts val="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Modulation technique in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GPRS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Gaussian  Minimum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Shift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Keying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b="0" lang="en-IN" sz="2800" spc="-1" strike="noStrike">
              <a:latin typeface="Arial"/>
            </a:endParaRPr>
          </a:p>
          <a:p>
            <a:pPr marL="419040" indent="-342000" algn="just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1635840" y="1297800"/>
            <a:ext cx="651204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Modulation</a:t>
            </a: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871" strike="noStrike">
                <a:solidFill>
                  <a:srgbClr val="006666"/>
                </a:solidFill>
                <a:latin typeface="Times New Roman"/>
                <a:ea typeface="DejaVu Sans"/>
              </a:rPr>
              <a:t>technique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942480" y="2395080"/>
            <a:ext cx="7936920" cy="45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406440" indent="-342000" algn="just">
              <a:lnSpc>
                <a:spcPct val="100000"/>
              </a:lnSpc>
              <a:spcBef>
                <a:spcPts val="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Modulation standard for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EDGE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 8-Phase  shift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Keying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(8PSK).</a:t>
            </a:r>
            <a:endParaRPr b="0" lang="en-IN" sz="2800" spc="-1" strike="noStrike">
              <a:latin typeface="Arial"/>
            </a:endParaRPr>
          </a:p>
          <a:p>
            <a:pPr marL="406440" indent="-342000" algn="just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8PSK – linear modulation technique – three  consecutive bits are mapped onto one  symbol.</a:t>
            </a:r>
            <a:endParaRPr b="0" lang="en-IN" sz="2800" spc="-1" strike="noStrike">
              <a:latin typeface="Arial"/>
            </a:endParaRPr>
          </a:p>
          <a:p>
            <a:pPr marL="406440" indent="-342000" algn="just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symbol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rate remains the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same but each  symbol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represents 3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bits instead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of one.</a:t>
            </a:r>
            <a:endParaRPr b="0" lang="en-IN" sz="2800" spc="-1" strike="noStrike">
              <a:latin typeface="Arial"/>
            </a:endParaRPr>
          </a:p>
          <a:p>
            <a:pPr marL="406440" indent="-342000" algn="just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Total data rate increases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by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 factor of  three.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573560" y="803880"/>
            <a:ext cx="655848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358" strike="noStrike">
                <a:solidFill>
                  <a:srgbClr val="006666"/>
                </a:solidFill>
                <a:latin typeface="Times New Roman"/>
                <a:ea typeface="DejaVu Sans"/>
              </a:rPr>
              <a:t>M</a:t>
            </a:r>
            <a:r>
              <a:rPr b="1" lang="en-IN" sz="3600" spc="1053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763" strike="noStrike">
                <a:solidFill>
                  <a:srgbClr val="006666"/>
                </a:solidFill>
                <a:latin typeface="Times New Roman"/>
                <a:ea typeface="DejaVu Sans"/>
              </a:rPr>
              <a:t>u</a:t>
            </a:r>
            <a:r>
              <a:rPr b="1" lang="en-IN" sz="3600" spc="1347" strike="noStrike">
                <a:solidFill>
                  <a:srgbClr val="006666"/>
                </a:solidFill>
                <a:latin typeface="Times New Roman"/>
                <a:ea typeface="DejaVu Sans"/>
              </a:rPr>
              <a:t>l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1132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1041" strike="noStrike">
                <a:solidFill>
                  <a:srgbClr val="006666"/>
                </a:solidFill>
                <a:latin typeface="Times New Roman"/>
                <a:ea typeface="DejaVu Sans"/>
              </a:rPr>
              <a:t>o</a:t>
            </a:r>
            <a:r>
              <a:rPr b="1" lang="en-IN" sz="3600" spc="667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307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999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197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900" strike="noStrike">
                <a:solidFill>
                  <a:srgbClr val="006666"/>
                </a:solidFill>
                <a:latin typeface="Times New Roman"/>
                <a:ea typeface="DejaVu Sans"/>
              </a:rPr>
              <a:t>h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885" strike="noStrike">
                <a:solidFill>
                  <a:srgbClr val="006666"/>
                </a:solidFill>
                <a:latin typeface="Times New Roman"/>
                <a:ea typeface="DejaVu Sans"/>
              </a:rPr>
              <a:t>q</a:t>
            </a:r>
            <a:r>
              <a:rPr b="1" lang="en-IN" sz="3600" spc="763" strike="noStrike">
                <a:solidFill>
                  <a:srgbClr val="006666"/>
                </a:solidFill>
                <a:latin typeface="Times New Roman"/>
                <a:ea typeface="DejaVu Sans"/>
              </a:rPr>
              <a:t>u</a:t>
            </a:r>
            <a:r>
              <a:rPr b="1" lang="en-IN" sz="3600" spc="701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891360" y="1297800"/>
            <a:ext cx="8003160" cy="438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(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908" strike="noStrike">
                <a:solidFill>
                  <a:srgbClr val="006666"/>
                </a:solidFill>
                <a:latin typeface="Times New Roman"/>
                <a:ea typeface="DejaVu Sans"/>
              </a:rPr>
              <a:t>cont.</a:t>
            </a:r>
            <a:r>
              <a:rPr b="1" lang="en-IN" sz="3600" spc="908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)</a:t>
            </a: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b="0" lang="en-IN" sz="3600" spc="-1" strike="noStrike">
              <a:latin typeface="Arial"/>
            </a:endParaRPr>
          </a:p>
          <a:p>
            <a:pPr marL="457200" indent="-342000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D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ista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b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et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w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dif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f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ere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s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y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b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ols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is  shorter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using</a:t>
            </a:r>
            <a:r>
              <a:rPr b="0" lang="en-IN" sz="2800" spc="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8PSK.</a:t>
            </a:r>
            <a:endParaRPr b="0" lang="en-IN" sz="2800" spc="-1" strike="noStrike">
              <a:latin typeface="Arial"/>
            </a:endParaRPr>
          </a:p>
          <a:p>
            <a:pPr marL="457200" indent="-342000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Increases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misinterpretation.</a:t>
            </a:r>
            <a:endParaRPr b="0" lang="en-IN" sz="2800" spc="-1" strike="noStrike">
              <a:latin typeface="Arial"/>
            </a:endParaRPr>
          </a:p>
          <a:p>
            <a:pPr marL="45720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U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poor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4" strike="noStrike">
                <a:solidFill>
                  <a:srgbClr val="003366"/>
                </a:solidFill>
                <a:latin typeface="Comic Sans MS"/>
                <a:ea typeface="DejaVu Sans"/>
              </a:rPr>
              <a:t>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adio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conditio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ext</a:t>
            </a:r>
            <a:r>
              <a:rPr b="0" lang="en-IN" sz="2800" spc="4" strike="noStrike">
                <a:solidFill>
                  <a:srgbClr val="003366"/>
                </a:solidFill>
                <a:latin typeface="Comic Sans MS"/>
                <a:ea typeface="DejaVu Sans"/>
              </a:rPr>
              <a:t>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bits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w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ill 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be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added for error correcting.</a:t>
            </a:r>
            <a:endParaRPr b="0" lang="en-IN" sz="2800" spc="-1" strike="noStrike">
              <a:latin typeface="Arial"/>
            </a:endParaRPr>
          </a:p>
          <a:p>
            <a:pPr marL="45720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On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ly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u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der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ve</a:t>
            </a:r>
            <a:r>
              <a:rPr b="0" lang="en-IN" sz="2800" spc="4" strike="noStrike">
                <a:solidFill>
                  <a:srgbClr val="003366"/>
                </a:solidFill>
                <a:latin typeface="Comic Sans MS"/>
                <a:ea typeface="DejaVu Sans"/>
              </a:rPr>
              <a:t>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y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poor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co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n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ditions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GMSK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is  more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efficient.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2892960" y="1176120"/>
            <a:ext cx="398988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4400" spc="738" strike="noStrike">
                <a:solidFill>
                  <a:srgbClr val="006666"/>
                </a:solidFill>
                <a:latin typeface="Times New Roman"/>
                <a:ea typeface="DejaVu Sans"/>
              </a:rPr>
              <a:t>R</a:t>
            </a:r>
            <a:r>
              <a:rPr b="1" lang="en-IN" sz="4400" spc="540" strike="noStrike">
                <a:solidFill>
                  <a:srgbClr val="006666"/>
                </a:solidFill>
                <a:latin typeface="Times New Roman"/>
                <a:ea typeface="DejaVu Sans"/>
              </a:rPr>
              <a:t>L</a:t>
            </a:r>
            <a:r>
              <a:rPr b="1" lang="en-IN" sz="4400" spc="503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44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878760" y="2910960"/>
            <a:ext cx="7998480" cy="277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/>
          <a:p>
            <a:pPr marL="469800" indent="-342000">
              <a:lnSpc>
                <a:spcPts val="3351"/>
              </a:lnSpc>
              <a:spcBef>
                <a:spcPts val="218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E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rror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corr</a:t>
            </a:r>
            <a:r>
              <a:rPr b="0" lang="en-IN" sz="2800" spc="4" strike="noStrike">
                <a:solidFill>
                  <a:srgbClr val="003366"/>
                </a:solidFill>
                <a:latin typeface="Arial"/>
                <a:ea typeface="DejaVu Sans"/>
              </a:rPr>
              <a:t>e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ction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is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done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4" strike="noStrike">
                <a:solidFill>
                  <a:srgbClr val="003366"/>
                </a:solidFill>
                <a:latin typeface="Arial"/>
                <a:ea typeface="DejaVu Sans"/>
              </a:rPr>
              <a:t>b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y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	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selective  retransmission of only the erroneous frames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b="0" lang="en-IN" sz="2800" spc="-1" strike="noStrike">
              <a:latin typeface="Arial"/>
            </a:endParaRPr>
          </a:p>
          <a:p>
            <a:pPr marL="469800" indent="-342000">
              <a:lnSpc>
                <a:spcPct val="100000"/>
              </a:lnSpc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Arial"/>
                <a:ea typeface="DejaVu Sans"/>
              </a:rPr>
              <a:t>The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correctly received frames are buffered until  the erroneous frames are correctly</a:t>
            </a:r>
            <a:r>
              <a:rPr b="0" lang="en-IN" sz="2800" spc="-12" strike="noStrike">
                <a:solidFill>
                  <a:srgbClr val="003366"/>
                </a:solidFill>
                <a:latin typeface="Arial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Arial"/>
                <a:ea typeface="DejaVu Sans"/>
              </a:rPr>
              <a:t>received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2415600" y="1297800"/>
            <a:ext cx="495252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3600" spc="848" strike="noStrike">
                <a:solidFill>
                  <a:srgbClr val="006666"/>
                </a:solidFill>
                <a:latin typeface="Times New Roman"/>
                <a:ea typeface="DejaVu Sans"/>
              </a:rPr>
              <a:t>P</a:t>
            </a:r>
            <a:r>
              <a:rPr b="1" lang="en-IN" sz="3600" spc="982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1189" strike="noStrike">
                <a:solidFill>
                  <a:srgbClr val="006666"/>
                </a:solidFill>
                <a:latin typeface="Times New Roman"/>
                <a:ea typeface="DejaVu Sans"/>
              </a:rPr>
              <a:t>c</a:t>
            </a:r>
            <a:r>
              <a:rPr b="1" lang="en-IN" sz="3600" spc="746" strike="noStrike">
                <a:solidFill>
                  <a:srgbClr val="006666"/>
                </a:solidFill>
                <a:latin typeface="Times New Roman"/>
                <a:ea typeface="DejaVu Sans"/>
              </a:rPr>
              <a:t>k</a:t>
            </a:r>
            <a:r>
              <a:rPr b="1" lang="en-IN" sz="3600" spc="999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837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574" strike="noStrike">
                <a:solidFill>
                  <a:srgbClr val="006666"/>
                </a:solidFill>
                <a:latin typeface="Times New Roman"/>
                <a:ea typeface="DejaVu Sans"/>
              </a:rPr>
              <a:t>H</a:t>
            </a:r>
            <a:r>
              <a:rPr b="1" lang="en-IN" sz="3600" spc="973" strike="noStrike">
                <a:solidFill>
                  <a:srgbClr val="006666"/>
                </a:solidFill>
                <a:latin typeface="Times New Roman"/>
                <a:ea typeface="DejaVu Sans"/>
              </a:rPr>
              <a:t>a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812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1347" strike="noStrike">
                <a:solidFill>
                  <a:srgbClr val="006666"/>
                </a:solidFill>
                <a:latin typeface="Times New Roman"/>
                <a:ea typeface="DejaVu Sans"/>
              </a:rPr>
              <a:t>l</a:t>
            </a:r>
            <a:r>
              <a:rPr b="1" lang="en-IN" sz="3600" spc="333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953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783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967680" y="2395080"/>
            <a:ext cx="7888320" cy="308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380880" indent="-342000" algn="just">
              <a:lnSpc>
                <a:spcPct val="100000"/>
              </a:lnSpc>
              <a:spcBef>
                <a:spcPts val="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EDGE –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Has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ability to retransmit an  erroneous packet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with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a more robust coding  scheme</a:t>
            </a:r>
            <a:endParaRPr b="0" lang="en-IN" sz="2800" spc="-1" strike="noStrike">
              <a:latin typeface="Arial"/>
            </a:endParaRPr>
          </a:p>
          <a:p>
            <a:pPr marL="380880" indent="-342000" algn="just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GPRS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-- Once packets have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been sent,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they 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must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be retransmitted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using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original  coding scheme even if the radio environment  has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changed.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2126160" y="1297800"/>
            <a:ext cx="586512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653400">
              <a:lnSpc>
                <a:spcPct val="100000"/>
              </a:lnSpc>
              <a:spcBef>
                <a:spcPts val="99"/>
              </a:spcBef>
            </a:pPr>
            <a:r>
              <a:rPr b="1" lang="en-IN" sz="3600" spc="616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701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724" strike="noStrike">
                <a:solidFill>
                  <a:srgbClr val="006666"/>
                </a:solidFill>
                <a:latin typeface="Times New Roman"/>
                <a:ea typeface="DejaVu Sans"/>
              </a:rPr>
              <a:t>b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282" strike="noStrike">
                <a:solidFill>
                  <a:srgbClr val="006666"/>
                </a:solidFill>
                <a:latin typeface="Times New Roman"/>
                <a:ea typeface="DejaVu Sans"/>
              </a:rPr>
              <a:t>f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1146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809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929520" y="2306160"/>
            <a:ext cx="7964280" cy="335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1520" bIns="0"/>
          <a:p>
            <a:pPr marL="419040" indent="-342000" algn="just">
              <a:lnSpc>
                <a:spcPct val="100000"/>
              </a:lnSpc>
              <a:spcBef>
                <a:spcPts val="799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Short-term benefits</a:t>
            </a:r>
            <a:r>
              <a:rPr b="0" lang="en-IN" sz="2800" spc="-7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–</a:t>
            </a:r>
            <a:endParaRPr b="0" lang="en-IN" sz="2800" spc="-1" strike="noStrike">
              <a:latin typeface="Arial"/>
            </a:endParaRPr>
          </a:p>
          <a:p>
            <a:pPr lvl="1" marL="819000" indent="-284760" algn="just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EDGE triples the capacity of</a:t>
            </a:r>
            <a:r>
              <a:rPr b="0" lang="en-IN" sz="2800" spc="-26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GPRS.</a:t>
            </a:r>
            <a:endParaRPr b="0" lang="en-IN" sz="2800" spc="-1" strike="noStrike">
              <a:latin typeface="Arial"/>
            </a:endParaRPr>
          </a:p>
          <a:p>
            <a:pPr lvl="1" marL="818640" indent="-284760" algn="just">
              <a:lnSpc>
                <a:spcPct val="100000"/>
              </a:lnSpc>
              <a:spcBef>
                <a:spcPts val="689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Boosts performance of existing  application and enables services such as  </a:t>
            </a:r>
            <a:r>
              <a:rPr b="0" lang="en-IN" sz="2800" spc="-4" strike="noStrike">
                <a:solidFill>
                  <a:srgbClr val="003366"/>
                </a:solidFill>
                <a:latin typeface="Comic Sans MS"/>
                <a:ea typeface="DejaVu Sans"/>
              </a:rPr>
              <a:t>multimedia…..</a:t>
            </a:r>
            <a:endParaRPr b="0" lang="en-IN" sz="2800" spc="-1" strike="noStrike">
              <a:latin typeface="Arial"/>
            </a:endParaRPr>
          </a:p>
          <a:p>
            <a:pPr lvl="1" marL="818640" indent="-284760" algn="just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Symbol"/>
              <a:buChar char=""/>
            </a:pP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Enables transceiver to carry more  voice/data</a:t>
            </a:r>
            <a:r>
              <a:rPr b="0" lang="en-IN" sz="2800" spc="-12" strike="noStrike">
                <a:solidFill>
                  <a:srgbClr val="003366"/>
                </a:solidFill>
                <a:latin typeface="Comic Sans MS"/>
                <a:ea typeface="DejaVu Sans"/>
              </a:rPr>
              <a:t> </a:t>
            </a:r>
            <a:r>
              <a:rPr b="0" lang="en-IN" sz="2800" spc="-1" strike="noStrike">
                <a:solidFill>
                  <a:srgbClr val="003366"/>
                </a:solidFill>
                <a:latin typeface="Comic Sans MS"/>
                <a:ea typeface="DejaVu Sans"/>
              </a:rPr>
              <a:t>traffic.</a:t>
            </a:r>
            <a:endParaRPr b="0" lang="en-IN" sz="28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2126160" y="1297800"/>
            <a:ext cx="6297120" cy="115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/>
          <a:p>
            <a:pPr marL="653400">
              <a:lnSpc>
                <a:spcPct val="100000"/>
              </a:lnSpc>
              <a:spcBef>
                <a:spcPts val="99"/>
              </a:spcBef>
            </a:pPr>
            <a:r>
              <a:rPr b="1" lang="en-IN" sz="3600" spc="616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701" strike="noStrike">
                <a:solidFill>
                  <a:srgbClr val="006666"/>
                </a:solidFill>
                <a:latin typeface="Times New Roman"/>
                <a:ea typeface="DejaVu Sans"/>
              </a:rPr>
              <a:t>D</a:t>
            </a:r>
            <a:r>
              <a:rPr b="1" lang="en-IN" sz="3600" spc="562" strike="noStrike">
                <a:solidFill>
                  <a:srgbClr val="006666"/>
                </a:solidFill>
                <a:latin typeface="Times New Roman"/>
                <a:ea typeface="DejaVu Sans"/>
              </a:rPr>
              <a:t>G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-1" strike="noStrike">
                <a:solidFill>
                  <a:srgbClr val="006666"/>
                </a:solidFill>
                <a:latin typeface="Times New Roman"/>
                <a:ea typeface="DejaVu Sans"/>
              </a:rPr>
              <a:t>	</a:t>
            </a:r>
            <a:r>
              <a:rPr b="1" lang="en-IN" sz="3600" spc="724" strike="noStrike">
                <a:solidFill>
                  <a:srgbClr val="006666"/>
                </a:solidFill>
                <a:latin typeface="Times New Roman"/>
                <a:ea typeface="DejaVu Sans"/>
              </a:rPr>
              <a:t>b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968" strike="noStrike">
                <a:solidFill>
                  <a:srgbClr val="006666"/>
                </a:solidFill>
                <a:latin typeface="Times New Roman"/>
                <a:ea typeface="DejaVu Sans"/>
              </a:rPr>
              <a:t>n</a:t>
            </a:r>
            <a:r>
              <a:rPr b="1" lang="en-IN" sz="3600" spc="987" strike="noStrike">
                <a:solidFill>
                  <a:srgbClr val="006666"/>
                </a:solidFill>
                <a:latin typeface="Times New Roman"/>
                <a:ea typeface="DejaVu Sans"/>
              </a:rPr>
              <a:t>e</a:t>
            </a:r>
            <a:r>
              <a:rPr b="1" lang="en-IN" sz="3600" spc="1282" strike="noStrike">
                <a:solidFill>
                  <a:srgbClr val="006666"/>
                </a:solidFill>
                <a:latin typeface="Times New Roman"/>
                <a:ea typeface="DejaVu Sans"/>
              </a:rPr>
              <a:t>f</a:t>
            </a:r>
            <a:r>
              <a:rPr b="1" lang="en-IN" sz="3600" spc="321" strike="noStrike">
                <a:solidFill>
                  <a:srgbClr val="006666"/>
                </a:solidFill>
                <a:latin typeface="Times New Roman"/>
                <a:ea typeface="DejaVu Sans"/>
              </a:rPr>
              <a:t>i</a:t>
            </a:r>
            <a:r>
              <a:rPr b="1" lang="en-IN" sz="3600" spc="1146" strike="noStrike">
                <a:solidFill>
                  <a:srgbClr val="006666"/>
                </a:solidFill>
                <a:latin typeface="Times New Roman"/>
                <a:ea typeface="DejaVu Sans"/>
              </a:rPr>
              <a:t>t</a:t>
            </a:r>
            <a:r>
              <a:rPr b="1" lang="en-IN" sz="3600" spc="809" strike="noStrike">
                <a:solidFill>
                  <a:srgbClr val="006666"/>
                </a:solidFill>
                <a:latin typeface="Times New Roman"/>
                <a:ea typeface="DejaVu Sans"/>
              </a:rPr>
              <a:t>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91760" y="2252880"/>
            <a:ext cx="8377560" cy="397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8920" bIns="0"/>
          <a:p>
            <a:pPr marL="40644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With EDGE, operators can offer more wireless 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data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applications, including wireless multimedia,  e-mail, web infotainment and positioning services,  for both consumer and business users.</a:t>
            </a:r>
            <a:endParaRPr b="0" lang="en-IN" sz="2400" spc="-1" strike="noStrike">
              <a:latin typeface="Arial"/>
            </a:endParaRPr>
          </a:p>
          <a:p>
            <a:pPr marL="406440" indent="-342000">
              <a:lnSpc>
                <a:spcPct val="100000"/>
              </a:lnSpc>
              <a:spcBef>
                <a:spcPts val="700"/>
              </a:spcBef>
              <a:buClr>
                <a:srgbClr val="003366"/>
              </a:buClr>
              <a:buSzPct val="75000"/>
              <a:buFont typeface="UnDotum"/>
              <a:buChar char=""/>
            </a:pP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Subscribers will be able to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browse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the Internet  on their mobile phones, personal digital </a:t>
            </a:r>
            <a:r>
              <a:rPr b="0" lang="en-IN" sz="2400" spc="-4" strike="noStrike">
                <a:solidFill>
                  <a:srgbClr val="003366"/>
                </a:solidFill>
                <a:latin typeface="Comic Sans MS"/>
                <a:ea typeface="DejaVu Sans"/>
              </a:rPr>
              <a:t>assistants  </a:t>
            </a:r>
            <a:r>
              <a:rPr b="0" lang="en-IN" sz="2400" spc="-1" strike="noStrike">
                <a:solidFill>
                  <a:srgbClr val="003366"/>
                </a:solidFill>
                <a:latin typeface="Comic Sans MS"/>
                <a:ea typeface="DejaVu Sans"/>
              </a:rPr>
              <a:t>or laptops at the speed as on stationary  personal computers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666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666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LibreOffice/6.0.7.3$Linux_X86_64 LibreOffice_project/00m0$Build-3</Application>
  <Words>919</Words>
  <Paragraphs>106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2021-03-08T17:50:43Z</dcterms:created>
  <dc:creator>Nagaveni Hebbar</dc:creator>
  <dc:description/>
  <dc:language>en-IN</dc:language>
  <cp:lastModifiedBy/>
  <dcterms:modified xsi:type="dcterms:W3CDTF">2025-01-31T14:20:22Z</dcterms:modified>
  <cp:revision>5</cp:revision>
  <dc:subject/>
  <dc:title>EDGE Technology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reated">
    <vt:filetime>2014-10-11T00:00:00Z</vt:filetime>
  </property>
  <property fmtid="{D5CDD505-2E9C-101B-9397-08002B2CF9AE}" pid="4" name="Creator">
    <vt:lpwstr>pdftk 1.44 - www.pdftk.com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astSaved">
    <vt:filetime>2021-03-08T00:00:00Z</vt:filetime>
  </property>
  <property fmtid="{D5CDD505-2E9C-101B-9397-08002B2CF9AE}" pid="8" name="LinksUpToDate">
    <vt:bool>0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On-screen Show (4:3)</vt:lpwstr>
  </property>
  <property fmtid="{D5CDD505-2E9C-101B-9397-08002B2CF9AE}" pid="12" name="ScaleCrop">
    <vt:bool>0</vt:bool>
  </property>
  <property fmtid="{D5CDD505-2E9C-101B-9397-08002B2CF9AE}" pid="13" name="ShareDoc">
    <vt:bool>0</vt:bool>
  </property>
  <property fmtid="{D5CDD505-2E9C-101B-9397-08002B2CF9AE}" pid="14" name="Slides">
    <vt:i4>23</vt:i4>
  </property>
</Properties>
</file>