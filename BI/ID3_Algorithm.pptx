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2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28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4384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384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4384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280" cy="585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04000" y="405900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4384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384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320" y="405900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907128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4059000"/>
            <a:ext cx="907128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152320" y="405900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04000" y="405900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4384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4384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4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2292120" y="1769040"/>
            <a:ext cx="5494680" cy="4384080"/>
          </a:xfrm>
          <a:prstGeom prst="rect">
            <a:avLst/>
          </a:prstGeom>
          <a:ln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2292120" y="1769040"/>
            <a:ext cx="5494680" cy="4384080"/>
          </a:xfrm>
          <a:prstGeom prst="rect">
            <a:avLst/>
          </a:prstGeom>
          <a:ln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28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4384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384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4384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280" cy="585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504000" y="405900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4384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4384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5152320" y="405900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504000" y="4059000"/>
            <a:ext cx="907128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04000" y="4059000"/>
            <a:ext cx="907128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152320" y="176904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152320" y="405900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504000" y="4059000"/>
            <a:ext cx="4426560" cy="20908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5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4384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438408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70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2292120" y="1769040"/>
            <a:ext cx="5494680" cy="4384080"/>
          </a:xfrm>
          <a:prstGeom prst="rect">
            <a:avLst/>
          </a:prstGeom>
          <a:ln>
            <a:noFill/>
          </a:ln>
        </p:spPr>
      </p:pic>
      <p:pic>
        <p:nvPicPr>
          <p:cNvPr id="71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2292120" y="1769040"/>
            <a:ext cx="5494680" cy="43840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</p:spPr>
        <p:txBody>
          <a:bodyPr lIns="0" rIns="0" tIns="0" bIns="0" anchor="ctr"/>
          <a:p>
            <a:r>
              <a:rPr lang="en-IN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IN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IN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IN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IN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IN" sz="2000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2160"/>
          </a:xfrm>
          <a:prstGeom prst="rect">
            <a:avLst/>
          </a:prstGeom>
        </p:spPr>
        <p:txBody>
          <a:bodyPr lIns="0" rIns="0" tIns="0" bIns="0" anchor="ctr"/>
          <a:p>
            <a:r>
              <a:rPr lang="en-IN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280" cy="438408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IN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IN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IN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IN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IN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IN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IN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515160" y="1512000"/>
            <a:ext cx="8844480" cy="7196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lang="en-IN">
                <a:latin typeface="Arial"/>
              </a:rPr>
              <a:t>Algorithm: Generate decision tree. Generate a decision tree from the training tuples of</a:t>
            </a:r>
            <a:endParaRPr/>
          </a:p>
          <a:p>
            <a:r>
              <a:rPr lang="en-IN">
                <a:latin typeface="Arial"/>
              </a:rPr>
              <a:t>data partition, D.</a:t>
            </a:r>
            <a:endParaRPr/>
          </a:p>
        </p:txBody>
      </p:sp>
      <p:sp>
        <p:nvSpPr>
          <p:cNvPr id="73" name="CustomShape 2"/>
          <p:cNvSpPr/>
          <p:nvPr/>
        </p:nvSpPr>
        <p:spPr>
          <a:xfrm>
            <a:off x="648000" y="2304000"/>
            <a:ext cx="7520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lang="en-IN">
                <a:latin typeface="Arial"/>
              </a:rPr>
              <a:t>Input:</a:t>
            </a:r>
            <a:endParaRPr/>
          </a:p>
        </p:txBody>
      </p:sp>
      <p:sp>
        <p:nvSpPr>
          <p:cNvPr id="74" name="CustomShape 3"/>
          <p:cNvSpPr/>
          <p:nvPr/>
        </p:nvSpPr>
        <p:spPr>
          <a:xfrm>
            <a:off x="648000" y="3024000"/>
            <a:ext cx="847548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lang="en-IN">
                <a:latin typeface="Arial"/>
              </a:rPr>
              <a:t>Data partition, D, which is a set of training tuples and their associated class labels;</a:t>
            </a:r>
            <a:endParaRPr/>
          </a:p>
        </p:txBody>
      </p:sp>
      <p:sp>
        <p:nvSpPr>
          <p:cNvPr id="75" name="CustomShape 4"/>
          <p:cNvSpPr/>
          <p:nvPr/>
        </p:nvSpPr>
        <p:spPr>
          <a:xfrm>
            <a:off x="720000" y="3600000"/>
            <a:ext cx="453456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lang="en-IN">
                <a:latin typeface="Arial"/>
              </a:rPr>
              <a:t>attribute list, the set of candidate attributes;</a:t>
            </a:r>
            <a:endParaRPr/>
          </a:p>
        </p:txBody>
      </p:sp>
      <p:sp>
        <p:nvSpPr>
          <p:cNvPr id="76" name="CustomShape 5"/>
          <p:cNvSpPr/>
          <p:nvPr/>
        </p:nvSpPr>
        <p:spPr>
          <a:xfrm>
            <a:off x="680040" y="4181400"/>
            <a:ext cx="8679600" cy="8582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lang="en-IN">
                <a:latin typeface="Arial"/>
              </a:rPr>
              <a:t>Attribute selection method, a procedure to determine the splitting criterion that “best”</a:t>
            </a:r>
            <a:endParaRPr/>
          </a:p>
          <a:p>
            <a:r>
              <a:rPr lang="en-IN">
                <a:latin typeface="Arial"/>
              </a:rPr>
              <a:t>partitions the data tuples into individual classes. This criterion consists of a</a:t>
            </a:r>
            <a:endParaRPr/>
          </a:p>
          <a:p>
            <a:r>
              <a:rPr lang="en-IN">
                <a:latin typeface="Arial"/>
              </a:rPr>
              <a:t>splitting attribute and, possibly, either a split-point or splitting subset.</a:t>
            </a:r>
            <a:endParaRPr/>
          </a:p>
        </p:txBody>
      </p:sp>
      <p:sp>
        <p:nvSpPr>
          <p:cNvPr id="77" name="CustomShape 6"/>
          <p:cNvSpPr/>
          <p:nvPr/>
        </p:nvSpPr>
        <p:spPr>
          <a:xfrm>
            <a:off x="700200" y="5557320"/>
            <a:ext cx="2539440" cy="346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lang="en-IN">
                <a:latin typeface="Arial"/>
              </a:rPr>
              <a:t>Output: A decision tree.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504360" y="799560"/>
            <a:ext cx="9071280" cy="3592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  <a:buSzPct val="45000"/>
              <a:buFont typeface="StarSymbol"/>
              <a:buChar char="l"/>
            </a:pPr>
            <a:r>
              <a:rPr lang="en-IN" sz="3200">
                <a:latin typeface="Arial"/>
              </a:rPr>
              <a:t>Method:</a:t>
            </a:r>
            <a:endParaRPr/>
          </a:p>
          <a:p>
            <a:pPr>
              <a:lnSpc>
                <a:spcPct val="100000"/>
              </a:lnSpc>
              <a:buFont typeface="Liberation Serif"/>
              <a:buAutoNum type="arabicParenR"/>
            </a:pPr>
            <a:r>
              <a:rPr lang="en-IN" sz="3200">
                <a:latin typeface="Arial"/>
              </a:rPr>
              <a:t>(1) create a node N ;</a:t>
            </a:r>
            <a:endParaRPr/>
          </a:p>
          <a:p>
            <a:pPr>
              <a:lnSpc>
                <a:spcPct val="100000"/>
              </a:lnSpc>
              <a:buFont typeface="Liberation Serif"/>
              <a:buAutoNum type="arabicParenR"/>
            </a:pPr>
            <a:r>
              <a:rPr lang="en-IN" sz="3200">
                <a:latin typeface="Arial"/>
              </a:rPr>
              <a:t>(2) if tuples in D are all of the same class, C,   then</a:t>
            </a:r>
            <a:endParaRPr/>
          </a:p>
          <a:p>
            <a:pPr>
              <a:lnSpc>
                <a:spcPct val="100000"/>
              </a:lnSpc>
              <a:buFont typeface="Liberation Serif"/>
              <a:buAutoNum type="arabicParenR"/>
            </a:pPr>
            <a:r>
              <a:rPr lang="en-IN" sz="3200">
                <a:latin typeface="Arial"/>
              </a:rPr>
              <a:t>(3) return N as a leaf node labeled with the class C;</a:t>
            </a:r>
            <a:endParaRPr/>
          </a:p>
          <a:p>
            <a:pPr>
              <a:lnSpc>
                <a:spcPct val="100000"/>
              </a:lnSpc>
              <a:buFont typeface="Liberation Serif"/>
              <a:buAutoNum type="arabicParenR"/>
            </a:pPr>
            <a:r>
              <a:rPr lang="en-IN" sz="3200">
                <a:latin typeface="Arial"/>
              </a:rPr>
              <a:t>(4)  if attribute list is empty then</a:t>
            </a:r>
            <a:endParaRPr/>
          </a:p>
          <a:p>
            <a:pPr>
              <a:lnSpc>
                <a:spcPct val="100000"/>
              </a:lnSpc>
              <a:buFont typeface="Liberation Serif"/>
              <a:buAutoNum type="arabicParenR"/>
            </a:pPr>
            <a:r>
              <a:rPr lang="en-IN" sz="3200">
                <a:latin typeface="Arial"/>
              </a:rPr>
              <a:t>(5) return N as a leaf node labeled with the majority class in D; // majority voting</a:t>
            </a:r>
            <a:endParaRPr/>
          </a:p>
          <a:p>
            <a:pPr>
              <a:lnSpc>
                <a:spcPct val="100000"/>
              </a:lnSpc>
              <a:buFont typeface="Liberation Serif"/>
              <a:buAutoNum type="arabicParenR"/>
            </a:pPr>
            <a:r>
              <a:rPr lang="en-IN" sz="3200">
                <a:latin typeface="Arial"/>
              </a:rPr>
              <a:t>(6) apply Attribute selection method(D, attribute list) to find the “best” splitting   criterion;</a:t>
            </a:r>
            <a:endParaRPr/>
          </a:p>
          <a:p>
            <a:pPr>
              <a:lnSpc>
                <a:spcPct val="100000"/>
              </a:lnSpc>
              <a:buFont typeface="Liberation Serif"/>
              <a:buAutoNum type="arabicParenR"/>
            </a:pPr>
            <a:r>
              <a:rPr lang="en-IN" sz="3200">
                <a:latin typeface="Arial"/>
              </a:rPr>
              <a:t>(7) label node N with splitting criterion;</a:t>
            </a:r>
            <a:endParaRPr/>
          </a:p>
          <a:p>
            <a:pPr>
              <a:lnSpc>
                <a:spcPct val="100000"/>
              </a:lnSpc>
              <a:buFont typeface="Liberation Serif"/>
              <a:buAutoNum type="arabicParenR"/>
            </a:pPr>
            <a:endParaRPr/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Shape 1"/>
          <p:cNvSpPr txBox="1"/>
          <p:nvPr/>
        </p:nvSpPr>
        <p:spPr>
          <a:xfrm>
            <a:off x="201600" y="583920"/>
            <a:ext cx="9806400" cy="5104080"/>
          </a:xfrm>
          <a:prstGeom prst="rect">
            <a:avLst/>
          </a:prstGeom>
        </p:spPr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lang="en-IN" sz="3200">
                <a:latin typeface="Arial"/>
              </a:rPr>
              <a:t>(8) if splitting attribute is discrete-valued and</a:t>
            </a:r>
            <a:endParaRPr/>
          </a:p>
          <a:p>
            <a:pPr>
              <a:lnSpc>
                <a:spcPct val="100000"/>
              </a:lnSpc>
            </a:pPr>
            <a:r>
              <a:rPr lang="en-IN" sz="3200">
                <a:latin typeface="Arial"/>
              </a:rPr>
              <a:t>      </a:t>
            </a:r>
            <a:r>
              <a:rPr lang="en-IN" sz="3200">
                <a:latin typeface="Arial"/>
              </a:rPr>
              <a:t>multiway splits allowed then // not restricted to     </a:t>
            </a:r>
            <a:endParaRPr/>
          </a:p>
          <a:p>
            <a:pPr>
              <a:lnSpc>
                <a:spcPct val="100000"/>
              </a:lnSpc>
            </a:pPr>
            <a:r>
              <a:rPr lang="en-IN" sz="3200">
                <a:latin typeface="Arial"/>
              </a:rPr>
              <a:t>      </a:t>
            </a:r>
            <a:r>
              <a:rPr lang="en-IN" sz="3200">
                <a:latin typeface="Arial"/>
              </a:rPr>
              <a:t>binary trees</a:t>
            </a:r>
            <a:endParaRPr/>
          </a:p>
          <a:p>
            <a:pPr>
              <a:lnSpc>
                <a:spcPct val="100000"/>
              </a:lnSpc>
            </a:pPr>
            <a:r>
              <a:rPr lang="en-IN" sz="3200">
                <a:latin typeface="Arial"/>
              </a:rPr>
              <a:t>(9) attribute list ← attribute list − splitting attribute; // </a:t>
            </a:r>
            <a:endParaRPr/>
          </a:p>
          <a:p>
            <a:pPr>
              <a:lnSpc>
                <a:spcPct val="100000"/>
              </a:lnSpc>
            </a:pPr>
            <a:r>
              <a:rPr lang="en-IN" sz="3200">
                <a:latin typeface="Arial"/>
              </a:rPr>
              <a:t>     </a:t>
            </a:r>
            <a:r>
              <a:rPr lang="en-IN" sz="3200">
                <a:latin typeface="Arial"/>
              </a:rPr>
              <a:t>remove splitting attribute</a:t>
            </a:r>
            <a:endParaRPr/>
          </a:p>
          <a:p>
            <a:pPr>
              <a:lnSpc>
                <a:spcPct val="100000"/>
              </a:lnSpc>
            </a:pPr>
            <a:r>
              <a:rPr lang="en-IN" sz="3200">
                <a:latin typeface="Arial"/>
              </a:rPr>
              <a:t>(10)  for each outcome j of splitting criterion</a:t>
            </a:r>
            <a:endParaRPr/>
          </a:p>
          <a:p>
            <a:pPr>
              <a:lnSpc>
                <a:spcPct val="100000"/>
              </a:lnSpc>
            </a:pPr>
            <a:r>
              <a:rPr lang="en-IN" sz="3200">
                <a:latin typeface="Arial"/>
              </a:rPr>
              <a:t>       </a:t>
            </a:r>
            <a:r>
              <a:rPr lang="en-IN" sz="3200">
                <a:latin typeface="Arial"/>
              </a:rPr>
              <a:t>//  partition the tuples and grow subtrees for each </a:t>
            </a:r>
            <a:endParaRPr/>
          </a:p>
          <a:p>
            <a:pPr>
              <a:lnSpc>
                <a:spcPct val="100000"/>
              </a:lnSpc>
            </a:pPr>
            <a:r>
              <a:rPr lang="en-IN" sz="3200">
                <a:latin typeface="Arial"/>
              </a:rPr>
              <a:t>           </a:t>
            </a:r>
            <a:r>
              <a:rPr lang="en-IN" sz="3200">
                <a:latin typeface="Arial"/>
              </a:rPr>
              <a:t>partition</a:t>
            </a:r>
            <a:endParaRPr/>
          </a:p>
          <a:p>
            <a:pPr>
              <a:lnSpc>
                <a:spcPct val="100000"/>
              </a:lnSpc>
            </a:pPr>
            <a:r>
              <a:rPr lang="en-IN" sz="3200">
                <a:latin typeface="Arial"/>
              </a:rPr>
              <a:t>(11) let Dj be the set of data tuples in D satisfying              outcome j; // a partition</a:t>
            </a:r>
            <a:endParaRPr/>
          </a:p>
          <a:p>
            <a:pPr>
              <a:lnSpc>
                <a:spcPct val="100000"/>
              </a:lnSpc>
            </a:pP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CustomShape 2"/>
          <p:cNvSpPr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  <a:buSzPct val="45000"/>
              <a:buFont typeface="StarSymbol"/>
              <a:buChar char="l"/>
            </a:pPr>
            <a:r>
              <a:rPr lang="en-IN" sz="3200">
                <a:latin typeface="Arial"/>
              </a:rPr>
              <a:t>12) if Dj is empty then</a:t>
            </a:r>
            <a:endParaRPr/>
          </a:p>
          <a:p>
            <a:pPr>
              <a:lnSpc>
                <a:spcPct val="100000"/>
              </a:lnSpc>
              <a:buSzPct val="45000"/>
              <a:buFont typeface="StarSymbol"/>
              <a:buChar char="l"/>
            </a:pPr>
            <a:r>
              <a:rPr lang="en-IN" sz="3200">
                <a:latin typeface="Arial"/>
              </a:rPr>
              <a:t>13) attach a leaf labeled with the majority class in D to node N ;</a:t>
            </a:r>
            <a:endParaRPr/>
          </a:p>
          <a:p>
            <a:pPr>
              <a:lnSpc>
                <a:spcPct val="100000"/>
              </a:lnSpc>
              <a:buSzPct val="45000"/>
              <a:buFont typeface="StarSymbol"/>
              <a:buChar char="l"/>
            </a:pPr>
            <a:r>
              <a:rPr lang="en-IN" sz="3200">
                <a:latin typeface="Arial"/>
              </a:rPr>
              <a:t>14) else attach the node returned by Generate decision tree(D j , attribute list) to node N ;</a:t>
            </a:r>
            <a:endParaRPr/>
          </a:p>
          <a:p>
            <a:pPr>
              <a:lnSpc>
                <a:spcPct val="100000"/>
              </a:lnSpc>
              <a:buSzPct val="45000"/>
              <a:buFont typeface="StarSymbol"/>
              <a:buChar char="l"/>
            </a:pPr>
            <a:r>
              <a:rPr lang="en-IN" sz="3200">
                <a:latin typeface="Arial"/>
              </a:rPr>
              <a:t>endfor</a:t>
            </a:r>
            <a:endParaRPr/>
          </a:p>
          <a:p>
            <a:pPr>
              <a:lnSpc>
                <a:spcPct val="100000"/>
              </a:lnSpc>
              <a:buSzPct val="45000"/>
              <a:buFont typeface="StarSymbol"/>
              <a:buChar char="l"/>
            </a:pPr>
            <a:r>
              <a:rPr lang="en-IN" sz="3200">
                <a:latin typeface="Arial"/>
              </a:rPr>
              <a:t>15) return N ;</a:t>
            </a:r>
            <a:endParaRPr/>
          </a:p>
        </p:txBody>
      </p:sp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504000" y="1769040"/>
            <a:ext cx="9071280" cy="43840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/>
          <a:p>
            <a:pPr>
              <a:lnSpc>
                <a:spcPct val="100000"/>
              </a:lnSpc>
              <a:buSzPct val="45000"/>
              <a:buFont typeface="StarSymbol"/>
              <a:buChar char="l"/>
            </a:pPr>
            <a:r>
              <a:rPr lang="en-IN" sz="3200">
                <a:latin typeface="Arial"/>
              </a:rPr>
              <a:t>The computational complexity of the algorithm given training set D is O(n × |D| ×log(|D|)), where n is the number of attributes describing the tuples in D and |D| is the number of training tuples in D. </a:t>
            </a:r>
            <a:endParaRPr/>
          </a:p>
          <a:p>
            <a:pPr>
              <a:lnSpc>
                <a:spcPct val="100000"/>
              </a:lnSpc>
              <a:buSzPct val="45000"/>
              <a:buFont typeface="StarSymbol"/>
              <a:buChar char="l"/>
            </a:pPr>
            <a:r>
              <a:rPr lang="en-IN" sz="3200">
                <a:latin typeface="Arial"/>
              </a:rPr>
              <a:t>The computational cost of growing a tree grows at most n × |D| × log(|D|) with |D| tuples.</a:t>
            </a:r>
            <a:endParaRPr/>
          </a:p>
        </p:txBody>
      </p:sp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